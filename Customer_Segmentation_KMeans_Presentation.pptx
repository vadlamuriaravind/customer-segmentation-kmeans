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93" r:id="rId9"/>
    <p:sldId id="294" r:id="rId10"/>
    <p:sldId id="295" r:id="rId11"/>
    <p:sldId id="296" r:id="rId12"/>
    <p:sldId id="297" r:id="rId13"/>
    <p:sldId id="298"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1" d="100"/>
          <a:sy n="81" d="100"/>
        </p:scale>
        <p:origin x="84"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300" b="1">
                <a:solidFill>
                  <a:srgbClr val="FFFFFF"/>
                </a:solidFill>
              </a:defRPr>
            </a:pPr>
            <a:r>
              <a:rPr dirty="0"/>
              <a:t>CUSTOMER SEGMENTATION USING K-MEANS CLUSTERING</a:t>
            </a:r>
          </a:p>
        </p:txBody>
      </p:sp>
      <p:sp>
        <p:nvSpPr>
          <p:cNvPr id="4" name="TextBox 3"/>
          <p:cNvSpPr txBox="1"/>
          <p:nvPr/>
        </p:nvSpPr>
        <p:spPr>
          <a:xfrm>
            <a:off x="218485" y="1051560"/>
            <a:ext cx="11701083" cy="5539978"/>
          </a:xfrm>
          <a:prstGeom prst="rect">
            <a:avLst/>
          </a:prstGeom>
          <a:noFill/>
        </p:spPr>
        <p:txBody>
          <a:bodyPr wrap="square">
            <a:spAutoFit/>
          </a:bodyPr>
          <a:lstStyle/>
          <a:p>
            <a:pPr algn="l">
              <a:spcAft>
                <a:spcPts val="1200"/>
              </a:spcAft>
              <a:defRPr sz="1800">
                <a:latin typeface="Aptos"/>
              </a:defRPr>
            </a:pPr>
            <a:r>
              <a:rPr dirty="0"/>
              <a:t>An End-to-End Unsupervised Machine Learning and Business Analytics Project</a:t>
            </a:r>
          </a:p>
          <a:p>
            <a:pPr algn="l">
              <a:spcAft>
                <a:spcPts val="1200"/>
              </a:spcAft>
              <a:defRPr sz="1800">
                <a:latin typeface="Aptos"/>
              </a:defRPr>
            </a:pPr>
            <a:r>
              <a:rPr dirty="0"/>
              <a:t>Prepared by: </a:t>
            </a:r>
            <a:r>
              <a:rPr dirty="0" err="1"/>
              <a:t>Vadlamuri</a:t>
            </a:r>
            <a:r>
              <a:rPr dirty="0"/>
              <a:t> Sohan Aravind</a:t>
            </a:r>
            <a:br>
              <a:rPr dirty="0"/>
            </a:br>
            <a:r>
              <a:rPr dirty="0"/>
              <a:t>Domain: Data Science | Machine Learning | Business Analytics</a:t>
            </a:r>
            <a:endParaRPr lang="en-US" dirty="0"/>
          </a:p>
          <a:p>
            <a:pPr algn="l">
              <a:spcAft>
                <a:spcPts val="1200"/>
              </a:spcAft>
              <a:defRPr sz="1800">
                <a:latin typeface="Aptos"/>
              </a:defRPr>
            </a:pPr>
            <a:r>
              <a:rPr lang="en-IN" b="1" dirty="0"/>
              <a:t>Role:</a:t>
            </a:r>
            <a:r>
              <a:rPr lang="en-IN" dirty="0"/>
              <a:t> Data Scientist</a:t>
            </a:r>
            <a:br>
              <a:rPr lang="en-IN" dirty="0"/>
            </a:br>
            <a:r>
              <a:rPr lang="en-IN" b="1" dirty="0"/>
              <a:t>Organization:</a:t>
            </a:r>
            <a:r>
              <a:rPr lang="en-IN" dirty="0"/>
              <a:t> C2N IT Services </a:t>
            </a:r>
            <a:r>
              <a:rPr lang="en-IN" dirty="0" err="1"/>
              <a:t>Pvt.</a:t>
            </a:r>
            <a:r>
              <a:rPr lang="en-IN" dirty="0"/>
              <a:t> Ltd., Hyderabad</a:t>
            </a:r>
          </a:p>
          <a:p>
            <a:pPr>
              <a:buNone/>
            </a:pPr>
            <a:r>
              <a:rPr lang="en-IN" b="1" dirty="0"/>
              <a:t>Customer Segmentation Using K-Means Clustering</a:t>
            </a:r>
          </a:p>
          <a:p>
            <a:pPr>
              <a:buNone/>
            </a:pPr>
            <a:r>
              <a:rPr lang="en-IN" dirty="0"/>
              <a:t>Customer Segmentation Using K-Means Clustering is a data-driven project designed to understand customer </a:t>
            </a:r>
            <a:r>
              <a:rPr lang="en-IN" dirty="0" err="1"/>
              <a:t>behavior</a:t>
            </a:r>
            <a:r>
              <a:rPr lang="en-IN" dirty="0"/>
              <a:t> and support effective business decision-making through Unsupervised Machine Learning and Business Analytics. The project </a:t>
            </a:r>
            <a:r>
              <a:rPr lang="en-IN" dirty="0" err="1"/>
              <a:t>analyzes</a:t>
            </a:r>
            <a:r>
              <a:rPr lang="en-IN" dirty="0"/>
              <a:t> customer characteristics, particularly Annual Income and Spending Score, to identify meaningful groups with similar </a:t>
            </a:r>
            <a:r>
              <a:rPr lang="en-IN" dirty="0" err="1"/>
              <a:t>behavioral</a:t>
            </a:r>
            <a:r>
              <a:rPr lang="en-IN" dirty="0"/>
              <a:t> patterns. Python-based techniques including Exploratory Data Analysis, feature selection, feature scaling, the Elbow Method, Silhouette Score, and K-Means Clustering are applied to develop and evaluate the segmentation model. The resulting clusters are interpreted as business-oriented customer segments that can support targeted marketing, personalized promotions, customer engagement, retention strategies, cross-selling, and upselling opportunities. The project also includes an interactive </a:t>
            </a:r>
            <a:r>
              <a:rPr lang="en-IN" dirty="0" err="1"/>
              <a:t>Streamlit</a:t>
            </a:r>
            <a:r>
              <a:rPr lang="en-IN" dirty="0"/>
              <a:t> application that enables users to </a:t>
            </a:r>
            <a:r>
              <a:rPr lang="en-IN" dirty="0" err="1"/>
              <a:t>analyze</a:t>
            </a:r>
            <a:r>
              <a:rPr lang="en-IN" dirty="0"/>
              <a:t> customer inputs and identify the corresponding segment. Overall, the project demonstrates how raw customer data can be transformed into meaningful clusters and actionable insights, supporting more personalized, efficient, and strategically targeted business decisions across diverse marketing and customer relationship management activities.</a:t>
            </a:r>
          </a:p>
          <a:p>
            <a:pPr algn="l">
              <a:spcAft>
                <a:spcPts val="1200"/>
              </a:spcAft>
              <a:defRPr sz="1800">
                <a:latin typeface="Aptos"/>
              </a:defRPr>
            </a:pPr>
            <a:endParaRPr dirty="0"/>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Introduction</a:t>
            </a:r>
          </a:p>
        </p:txBody>
      </p:sp>
      <p:sp>
        <p:nvSpPr>
          <p:cNvPr id="4" name="TextBox 3"/>
          <p:cNvSpPr txBox="1"/>
          <p:nvPr/>
        </p:nvSpPr>
        <p:spPr>
          <a:xfrm>
            <a:off x="731520" y="1051560"/>
            <a:ext cx="10744200" cy="4801314"/>
          </a:xfrm>
          <a:prstGeom prst="rect">
            <a:avLst/>
          </a:prstGeom>
          <a:noFill/>
        </p:spPr>
        <p:txBody>
          <a:bodyPr wrap="square">
            <a:spAutoFit/>
          </a:bodyPr>
          <a:lstStyle/>
          <a:p>
            <a:pPr>
              <a:buNone/>
            </a:pPr>
            <a:r>
              <a:rPr lang="en-IN" dirty="0"/>
              <a:t>Customer segmentation is an important business analytics technique used to divide customers into meaningful groups based on similar characteristics and </a:t>
            </a:r>
            <a:r>
              <a:rPr lang="en-IN" dirty="0" err="1"/>
              <a:t>behavioral</a:t>
            </a:r>
            <a:r>
              <a:rPr lang="en-IN" dirty="0"/>
              <a:t> patterns. Businesses serve customers with different income levels, purchasing capacities, and spending </a:t>
            </a:r>
            <a:r>
              <a:rPr lang="en-IN" dirty="0" err="1"/>
              <a:t>behaviors</a:t>
            </a:r>
            <a:r>
              <a:rPr lang="en-IN" dirty="0"/>
              <a:t>; therefore, a single marketing strategy may not be equally effective for every customer.</a:t>
            </a:r>
          </a:p>
          <a:p>
            <a:pPr>
              <a:buNone/>
            </a:pPr>
            <a:r>
              <a:rPr lang="en-IN" dirty="0"/>
              <a:t>This project applies Unsupervised Machine Learning using the K-Means Clustering algorithm to </a:t>
            </a:r>
            <a:r>
              <a:rPr lang="en-IN" dirty="0" err="1"/>
              <a:t>analyze</a:t>
            </a:r>
            <a:r>
              <a:rPr lang="en-IN" dirty="0"/>
              <a:t> mall customers based primarily on their Annual Income and Spending Score. The resulting clusters are interpreted as meaningful customer segments to support data-driven business decisions and marketing strategies.</a:t>
            </a:r>
          </a:p>
          <a:p>
            <a:pPr>
              <a:buNone/>
            </a:pPr>
            <a:r>
              <a:rPr lang="en-IN" dirty="0"/>
              <a:t>The project further performs Exploratory Data Analysis to understand customer demographics, income distribution, spending patterns, and relationships between important variables. Feature selection and feature scaling are applied before clustering to ensure that the selected variables contribute effectively to the analytical process. The Elbow Method and Silhouette Score are used to evaluate suitable clustering solutions and assess the quality of the identified customer groups.</a:t>
            </a:r>
          </a:p>
          <a:p>
            <a:pPr>
              <a:buNone/>
            </a:pPr>
            <a:r>
              <a:rPr lang="en-IN" dirty="0"/>
              <a:t>The final clusters are profiled and </a:t>
            </a:r>
            <a:r>
              <a:rPr lang="en-IN" dirty="0" err="1"/>
              <a:t>analyzed</a:t>
            </a:r>
            <a:r>
              <a:rPr lang="en-IN" dirty="0"/>
              <a:t> to understand the characteristics of different customer segments. These insights can support targeted marketing campaigns, personalized offers, customer engagement, retention strategies, cross-selling, and upselling opportunities. Overall, the project demonstrates how Machine Learning can transform raw customer data into meaningful business insights and support more effective, personalized, and data-driven decision-making.</a:t>
            </a:r>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Business Problem</a:t>
            </a:r>
          </a:p>
        </p:txBody>
      </p:sp>
      <p:sp>
        <p:nvSpPr>
          <p:cNvPr id="4" name="TextBox 3"/>
          <p:cNvSpPr txBox="1"/>
          <p:nvPr/>
        </p:nvSpPr>
        <p:spPr>
          <a:xfrm>
            <a:off x="731520" y="1051560"/>
            <a:ext cx="10744200" cy="4801314"/>
          </a:xfrm>
          <a:prstGeom prst="rect">
            <a:avLst/>
          </a:prstGeom>
          <a:noFill/>
        </p:spPr>
        <p:txBody>
          <a:bodyPr wrap="square">
            <a:spAutoFit/>
          </a:bodyPr>
          <a:lstStyle/>
          <a:p>
            <a:pPr>
              <a:buNone/>
            </a:pPr>
            <a:r>
              <a:rPr lang="en-IN" dirty="0"/>
              <a:t>Businesses often maintain customer populations with significant differences in financial capacity and spending </a:t>
            </a:r>
            <a:r>
              <a:rPr lang="en-IN" dirty="0" err="1"/>
              <a:t>behavior</a:t>
            </a:r>
            <a:r>
              <a:rPr lang="en-IN" dirty="0"/>
              <a:t>. Without customer segmentation, organizations may apply generalized strategies that do not effectively address the characteristics of different customer groups.</a:t>
            </a:r>
          </a:p>
          <a:p>
            <a:pPr>
              <a:buNone/>
            </a:pPr>
            <a:r>
              <a:rPr lang="en-IN" dirty="0"/>
              <a:t>This project addresses how customer income and spending </a:t>
            </a:r>
            <a:r>
              <a:rPr lang="en-IN" dirty="0" err="1"/>
              <a:t>behavior</a:t>
            </a:r>
            <a:r>
              <a:rPr lang="en-IN" dirty="0"/>
              <a:t> can be </a:t>
            </a:r>
            <a:r>
              <a:rPr lang="en-IN" dirty="0" err="1"/>
              <a:t>analyzed</a:t>
            </a:r>
            <a:r>
              <a:rPr lang="en-IN" dirty="0"/>
              <a:t> using K-Means Clustering to identify meaningful customer groups and generate actionable business insights for targeted marketing, personalized promotions, customer engagement, retention, cross-selling, upselling, and premium strategies.</a:t>
            </a:r>
          </a:p>
          <a:p>
            <a:pPr>
              <a:buNone/>
            </a:pPr>
            <a:r>
              <a:rPr lang="en-IN" dirty="0"/>
              <a:t>The project further </a:t>
            </a:r>
            <a:r>
              <a:rPr lang="en-IN" dirty="0" err="1"/>
              <a:t>analyzes</a:t>
            </a:r>
            <a:r>
              <a:rPr lang="en-IN" dirty="0"/>
              <a:t> customer data to understand variations in income levels and spending patterns among different individuals. Exploratory Data Analysis is used to identify important relationships and patterns within the customer data, while feature selection and scaling help prepare the selected variables for effective clustering. The Elbow Method and Silhouette Score are used to evaluate suitable clustering solutions and assess the quality of the identified customer groups.</a:t>
            </a:r>
          </a:p>
          <a:p>
            <a:pPr>
              <a:buNone/>
            </a:pPr>
            <a:r>
              <a:rPr lang="en-IN" dirty="0"/>
              <a:t>The resulting customer segments provide a clearer understanding of diverse customer </a:t>
            </a:r>
            <a:r>
              <a:rPr lang="en-IN" dirty="0" err="1"/>
              <a:t>behaviors</a:t>
            </a:r>
            <a:r>
              <a:rPr lang="en-IN" dirty="0"/>
              <a:t> and potential business opportunities. By interpreting these clusters from a business perspective, organizations can develop more relevant marketing approaches, improve customer engagement, optimize promotional efforts, and allocate resources more effectively. Overall, the project demonstrates how data-driven customer segmentation can support informed decision-making and enable organizations to move from generalized strategies toward more personalized and strategically focused customer management.</a:t>
            </a:r>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Project Objective</a:t>
            </a:r>
          </a:p>
        </p:txBody>
      </p:sp>
      <p:sp>
        <p:nvSpPr>
          <p:cNvPr id="4" name="TextBox 3"/>
          <p:cNvSpPr txBox="1"/>
          <p:nvPr/>
        </p:nvSpPr>
        <p:spPr>
          <a:xfrm>
            <a:off x="731520" y="1051560"/>
            <a:ext cx="10744200" cy="4801314"/>
          </a:xfrm>
          <a:prstGeom prst="rect">
            <a:avLst/>
          </a:prstGeom>
          <a:noFill/>
        </p:spPr>
        <p:txBody>
          <a:bodyPr wrap="square">
            <a:spAutoFit/>
          </a:bodyPr>
          <a:lstStyle/>
          <a:p>
            <a:pPr>
              <a:buNone/>
            </a:pPr>
            <a:r>
              <a:rPr lang="en-IN" dirty="0"/>
              <a:t>The primary objective is to identify meaningful customer segments using the K-Means Clustering algorithm.</a:t>
            </a:r>
          </a:p>
          <a:p>
            <a:pPr>
              <a:buNone/>
            </a:pPr>
            <a:r>
              <a:rPr lang="en-IN" dirty="0"/>
              <a:t>The project </a:t>
            </a:r>
            <a:r>
              <a:rPr lang="en-IN" dirty="0" err="1"/>
              <a:t>analyzes</a:t>
            </a:r>
            <a:r>
              <a:rPr lang="en-IN" dirty="0"/>
              <a:t> customer data, understands income and spending patterns, selects suitable clustering features, evaluates the number of clusters, develops the clustering model, profiles customer groups, and translates technical clustering results into meaningful business insights.</a:t>
            </a:r>
          </a:p>
          <a:p>
            <a:pPr>
              <a:buNone/>
            </a:pPr>
            <a:r>
              <a:rPr lang="en-IN" dirty="0"/>
              <a:t>The project also demonstrates an end-to-end Data Science workflow from raw data analysis to Machine Learning implementation and </a:t>
            </a:r>
            <a:r>
              <a:rPr lang="en-IN" dirty="0" err="1"/>
              <a:t>Streamlit</a:t>
            </a:r>
            <a:r>
              <a:rPr lang="en-IN" dirty="0"/>
              <a:t> deployment.</a:t>
            </a:r>
          </a:p>
          <a:p>
            <a:pPr>
              <a:buNone/>
            </a:pPr>
            <a:r>
              <a:rPr lang="en-IN" dirty="0"/>
              <a:t>The analysis begins with data loading and data quality assessment to understand the structure and characteristics of the customer dataset. Exploratory Data Analysis is then performed to examine customer demographics, income distribution, spending </a:t>
            </a:r>
            <a:r>
              <a:rPr lang="en-IN" dirty="0" err="1"/>
              <a:t>behavior</a:t>
            </a:r>
            <a:r>
              <a:rPr lang="en-IN" dirty="0"/>
              <a:t>, and relationships between important variables. Feature selection and scaling are applied to prepare the relevant data for effective clustering and ensure that the selected features contribute appropriately to the Machine Learning process.</a:t>
            </a:r>
          </a:p>
          <a:p>
            <a:pPr>
              <a:buNone/>
            </a:pPr>
            <a:r>
              <a:rPr lang="en-IN" dirty="0"/>
              <a:t>Different clustering solutions are evaluated using the Elbow Method and Silhouette Score to identify a suitable number of customer segments and assess cluster quality. The final clusters are further </a:t>
            </a:r>
            <a:r>
              <a:rPr lang="en-IN" dirty="0" err="1"/>
              <a:t>analyzed</a:t>
            </a:r>
            <a:r>
              <a:rPr lang="en-IN" dirty="0"/>
              <a:t> based on their characteristics and interpreted from a business perspective.</a:t>
            </a:r>
          </a:p>
          <a:p>
            <a:pPr>
              <a:buNone/>
            </a:pPr>
            <a:r>
              <a:rPr lang="en-IN" dirty="0"/>
              <a:t>Overall, the objective is to transform raw customer information into meaningful segments and actionable insights that can support targeted marketing, personalized customer experiences, improved engagement, and more effective data-driven business decision-making.</a:t>
            </a:r>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Project Scope</a:t>
            </a:r>
          </a:p>
        </p:txBody>
      </p:sp>
      <p:sp>
        <p:nvSpPr>
          <p:cNvPr id="4" name="TextBox 3"/>
          <p:cNvSpPr txBox="1"/>
          <p:nvPr/>
        </p:nvSpPr>
        <p:spPr>
          <a:xfrm>
            <a:off x="731520" y="1051560"/>
            <a:ext cx="10744200" cy="4524315"/>
          </a:xfrm>
          <a:prstGeom prst="rect">
            <a:avLst/>
          </a:prstGeom>
          <a:noFill/>
        </p:spPr>
        <p:txBody>
          <a:bodyPr wrap="square">
            <a:spAutoFit/>
          </a:bodyPr>
          <a:lstStyle/>
          <a:p>
            <a:pPr>
              <a:buNone/>
            </a:pPr>
            <a:r>
              <a:rPr lang="en-IN" dirty="0"/>
              <a:t>The project focuses on customer segmentation using available mall customer data. It includes data loading, data quality analysis, Exploratory Data Analysis, feature selection, feature scaling, cluster evaluation, K-Means model development, cluster profiling, business interpretation, results export, visualization, and </a:t>
            </a:r>
            <a:r>
              <a:rPr lang="en-IN" dirty="0" err="1"/>
              <a:t>Streamlit</a:t>
            </a:r>
            <a:r>
              <a:rPr lang="en-IN" dirty="0"/>
              <a:t> deployment.</a:t>
            </a:r>
          </a:p>
          <a:p>
            <a:pPr>
              <a:buNone/>
            </a:pPr>
            <a:r>
              <a:rPr lang="en-IN" dirty="0"/>
              <a:t>The project focuses on understanding customer income and spending </a:t>
            </a:r>
            <a:r>
              <a:rPr lang="en-IN" dirty="0" err="1"/>
              <a:t>behavior</a:t>
            </a:r>
            <a:r>
              <a:rPr lang="en-IN" dirty="0"/>
              <a:t> rather than predicting future purchases or performing supervised classification.</a:t>
            </a:r>
          </a:p>
          <a:p>
            <a:pPr>
              <a:buNone/>
            </a:pPr>
            <a:r>
              <a:rPr lang="en-IN" dirty="0"/>
              <a:t>The scope begins with examining the structure and quality of the available customer data to ensure that it is suitable for analysis. Exploratory Data Analysis is then performed to identify important patterns, relationships, and variations in customer characteristics. Relevant features are selected and prepared for clustering to support meaningful customer grouping.</a:t>
            </a:r>
          </a:p>
          <a:p>
            <a:pPr>
              <a:buNone/>
            </a:pPr>
            <a:r>
              <a:rPr lang="en-IN" dirty="0"/>
              <a:t>Different clustering solutions are evaluated using the Elbow Method and Silhouette Score to assess the number and quality of customer segments. The final clusters are further </a:t>
            </a:r>
            <a:r>
              <a:rPr lang="en-IN" dirty="0" err="1"/>
              <a:t>analyzed</a:t>
            </a:r>
            <a:r>
              <a:rPr lang="en-IN" dirty="0"/>
              <a:t> to understand their characteristics and </a:t>
            </a:r>
            <a:r>
              <a:rPr lang="en-IN" dirty="0" err="1"/>
              <a:t>behavioral</a:t>
            </a:r>
            <a:r>
              <a:rPr lang="en-IN" dirty="0"/>
              <a:t> patterns. These technical results are then translated into business-oriented customer segments that can support targeted marketing and customer engagement strategies.</a:t>
            </a:r>
          </a:p>
          <a:p>
            <a:pPr>
              <a:buNone/>
            </a:pPr>
            <a:r>
              <a:rPr lang="en-IN" dirty="0"/>
              <a:t>The project concludes with the visualization and export of segmentation results and the deployment of an interactive </a:t>
            </a:r>
            <a:r>
              <a:rPr lang="en-IN" dirty="0" err="1"/>
              <a:t>Streamlit</a:t>
            </a:r>
            <a:r>
              <a:rPr lang="en-IN" dirty="0"/>
              <a:t> application, demonstrating a complete workflow from raw customer data to practical business insights.</a:t>
            </a:r>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Dataset Overview</a:t>
            </a:r>
          </a:p>
        </p:txBody>
      </p:sp>
      <p:sp>
        <p:nvSpPr>
          <p:cNvPr id="4" name="TextBox 3"/>
          <p:cNvSpPr txBox="1"/>
          <p:nvPr/>
        </p:nvSpPr>
        <p:spPr>
          <a:xfrm>
            <a:off x="731520" y="1051560"/>
            <a:ext cx="10744200" cy="4801314"/>
          </a:xfrm>
          <a:prstGeom prst="rect">
            <a:avLst/>
          </a:prstGeom>
          <a:noFill/>
        </p:spPr>
        <p:txBody>
          <a:bodyPr wrap="square">
            <a:spAutoFit/>
          </a:bodyPr>
          <a:lstStyle/>
          <a:p>
            <a:pPr>
              <a:buNone/>
            </a:pPr>
            <a:r>
              <a:rPr lang="en-IN" b="1" dirty="0"/>
              <a:t>Dataset: Mall Customer Segmentation Data</a:t>
            </a:r>
            <a:br>
              <a:rPr lang="en-IN" dirty="0"/>
            </a:br>
            <a:r>
              <a:rPr lang="en-IN" b="1" dirty="0"/>
              <a:t>Source: Kaggle</a:t>
            </a:r>
            <a:br>
              <a:rPr lang="en-IN" dirty="0"/>
            </a:br>
            <a:r>
              <a:rPr lang="en-IN" b="1" dirty="0"/>
              <a:t>Records: 200 Customers</a:t>
            </a:r>
            <a:endParaRPr lang="en-IN" dirty="0"/>
          </a:p>
          <a:p>
            <a:pPr>
              <a:buNone/>
            </a:pPr>
            <a:r>
              <a:rPr lang="en-IN" dirty="0"/>
              <a:t>The dataset contains information about mall customers and includes the features </a:t>
            </a:r>
            <a:r>
              <a:rPr lang="en-IN" dirty="0" err="1"/>
              <a:t>CustomerID</a:t>
            </a:r>
            <a:r>
              <a:rPr lang="en-IN" dirty="0"/>
              <a:t>, Gender, Age, Annual Income, and Spending Score. These variables provide information about customer demographics, financial capacity, and purchasing </a:t>
            </a:r>
            <a:r>
              <a:rPr lang="en-IN" dirty="0" err="1"/>
              <a:t>behavior</a:t>
            </a:r>
            <a:r>
              <a:rPr lang="en-IN" dirty="0"/>
              <a:t>, making the dataset suitable for customer segmentation analysis.</a:t>
            </a:r>
          </a:p>
          <a:p>
            <a:pPr>
              <a:buNone/>
            </a:pPr>
            <a:r>
              <a:rPr lang="en-IN" dirty="0" err="1"/>
              <a:t>CustomerID</a:t>
            </a:r>
            <a:r>
              <a:rPr lang="en-IN" dirty="0"/>
              <a:t> is treated as a unique identifier for each customer and is not used as a primary feature for clustering because it does not represent a </a:t>
            </a:r>
            <a:r>
              <a:rPr lang="en-IN" dirty="0" err="1"/>
              <a:t>behavioral</a:t>
            </a:r>
            <a:r>
              <a:rPr lang="en-IN" dirty="0"/>
              <a:t> or financial characteristic. Gender and Age are useful for understanding customer demographics and supporting Exploratory Data Analysis, while Annual Income and Spending Score provide important information about customer financial capacity and spending </a:t>
            </a:r>
            <a:r>
              <a:rPr lang="en-IN" dirty="0" err="1"/>
              <a:t>behavior</a:t>
            </a:r>
            <a:r>
              <a:rPr lang="en-IN" dirty="0"/>
              <a:t>.</a:t>
            </a:r>
          </a:p>
          <a:p>
            <a:pPr>
              <a:buNone/>
            </a:pPr>
            <a:r>
              <a:rPr lang="en-IN" dirty="0"/>
              <a:t>The final clustering analysis primarily focuses on Annual Income and Spending Score because these variables provide a meaningful representation of differences in customer purchasing capacity and expenditure patterns. By </a:t>
            </a:r>
            <a:r>
              <a:rPr lang="en-IN" dirty="0" err="1"/>
              <a:t>analyzing</a:t>
            </a:r>
            <a:r>
              <a:rPr lang="en-IN" dirty="0"/>
              <a:t> these two features together, the K-Means Clustering algorithm can identify customers with similar financial and </a:t>
            </a:r>
            <a:r>
              <a:rPr lang="en-IN" dirty="0" err="1"/>
              <a:t>behavioral</a:t>
            </a:r>
            <a:r>
              <a:rPr lang="en-IN" dirty="0"/>
              <a:t> characteristics.</a:t>
            </a:r>
          </a:p>
          <a:p>
            <a:pPr>
              <a:buNone/>
            </a:pPr>
            <a:r>
              <a:rPr lang="en-IN" dirty="0"/>
              <a:t>The dataset therefore provides a practical foundation for applying Unsupervised Machine Learning techniques and transforming customer information into meaningful segments that can support targeted marketing, personalized promotions, customer engagement, and data-driven business decision-making.</a:t>
            </a:r>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Dataset Features</a:t>
            </a:r>
          </a:p>
        </p:txBody>
      </p:sp>
      <p:sp>
        <p:nvSpPr>
          <p:cNvPr id="4" name="TextBox 3"/>
          <p:cNvSpPr txBox="1"/>
          <p:nvPr/>
        </p:nvSpPr>
        <p:spPr>
          <a:xfrm>
            <a:off x="731520" y="1051560"/>
            <a:ext cx="10744200" cy="4524315"/>
          </a:xfrm>
          <a:prstGeom prst="rect">
            <a:avLst/>
          </a:prstGeom>
          <a:noFill/>
        </p:spPr>
        <p:txBody>
          <a:bodyPr wrap="square">
            <a:spAutoFit/>
          </a:bodyPr>
          <a:lstStyle/>
          <a:p>
            <a:pPr>
              <a:buNone/>
            </a:pPr>
            <a:r>
              <a:rPr lang="en-IN" dirty="0"/>
              <a:t>The dataset contains five primary features that provide information about customer identity, demographics, financial capacity, and spending </a:t>
            </a:r>
            <a:r>
              <a:rPr lang="en-IN" dirty="0" err="1"/>
              <a:t>behavior</a:t>
            </a:r>
            <a:r>
              <a:rPr lang="en-IN" dirty="0"/>
              <a:t>.</a:t>
            </a:r>
          </a:p>
          <a:p>
            <a:pPr marL="342900" lvl="0" indent="-342900">
              <a:buFont typeface="+mj-lt"/>
              <a:buAutoNum type="arabicPeriod"/>
            </a:pPr>
            <a:r>
              <a:rPr lang="en-IN" b="1" dirty="0" err="1"/>
              <a:t>CustomerID</a:t>
            </a:r>
            <a:r>
              <a:rPr lang="en-IN" dirty="0"/>
              <a:t> represents the unique identification number assigned to each customer. This feature is primarily used to distinguish individual records and is not considered a meaningful variable for customer clustering. </a:t>
            </a:r>
          </a:p>
          <a:p>
            <a:pPr marL="342900" lvl="0" indent="-342900">
              <a:buFont typeface="+mj-lt"/>
              <a:buAutoNum type="arabicPeriod"/>
            </a:pPr>
            <a:r>
              <a:rPr lang="en-IN" b="1" dirty="0"/>
              <a:t>Gender</a:t>
            </a:r>
            <a:r>
              <a:rPr lang="en-IN" dirty="0"/>
              <a:t> represents the gender category of each customer. This feature is useful for understanding the demographic distribution of customers and supporting exploratory analysis. </a:t>
            </a:r>
          </a:p>
          <a:p>
            <a:pPr marL="342900" lvl="0" indent="-342900">
              <a:buFont typeface="+mj-lt"/>
              <a:buAutoNum type="arabicPeriod"/>
            </a:pPr>
            <a:r>
              <a:rPr lang="en-IN" b="1" dirty="0"/>
              <a:t>Age</a:t>
            </a:r>
            <a:r>
              <a:rPr lang="en-IN" dirty="0"/>
              <a:t> represents the customer's age and provides additional demographic information that can help </a:t>
            </a:r>
            <a:r>
              <a:rPr lang="en-IN" dirty="0" err="1"/>
              <a:t>analyze</a:t>
            </a:r>
            <a:r>
              <a:rPr lang="en-IN" dirty="0"/>
              <a:t> differences in customer characteristics and </a:t>
            </a:r>
            <a:r>
              <a:rPr lang="en-IN" dirty="0" err="1"/>
              <a:t>behavior</a:t>
            </a:r>
            <a:r>
              <a:rPr lang="en-IN" dirty="0"/>
              <a:t>. </a:t>
            </a:r>
          </a:p>
          <a:p>
            <a:pPr marL="342900" lvl="0" indent="-342900">
              <a:buFont typeface="+mj-lt"/>
              <a:buAutoNum type="arabicPeriod"/>
            </a:pPr>
            <a:r>
              <a:rPr lang="en-IN" b="1" dirty="0"/>
              <a:t>Annual Income (k$)</a:t>
            </a:r>
            <a:r>
              <a:rPr lang="en-IN" dirty="0"/>
              <a:t> represents the annual income level of the customer. This feature provides important information about the customer's financial capacity and purchasing potential. </a:t>
            </a:r>
          </a:p>
          <a:p>
            <a:pPr marL="342900" lvl="0" indent="-342900">
              <a:buFont typeface="+mj-lt"/>
              <a:buAutoNum type="arabicPeriod"/>
            </a:pPr>
            <a:r>
              <a:rPr lang="en-IN" b="1" dirty="0"/>
              <a:t>Spending Score (1–100)</a:t>
            </a:r>
            <a:r>
              <a:rPr lang="en-IN" dirty="0"/>
              <a:t> represents the customer's spending </a:t>
            </a:r>
            <a:r>
              <a:rPr lang="en-IN" dirty="0" err="1"/>
              <a:t>behavior</a:t>
            </a:r>
            <a:r>
              <a:rPr lang="en-IN" dirty="0"/>
              <a:t>. A higher spending score generally indicates greater spending activity, while a lower score represents comparatively lower spending </a:t>
            </a:r>
            <a:r>
              <a:rPr lang="en-IN" dirty="0" err="1"/>
              <a:t>behavior</a:t>
            </a:r>
            <a:r>
              <a:rPr lang="en-IN" dirty="0"/>
              <a:t>. </a:t>
            </a:r>
          </a:p>
          <a:p>
            <a:pPr>
              <a:buNone/>
            </a:pPr>
            <a:r>
              <a:rPr lang="en-IN" dirty="0"/>
              <a:t>These features were explored to understand the overall characteristics of the customer population and identify suitable variables for segmentation. Based on the analysis, </a:t>
            </a:r>
            <a:r>
              <a:rPr lang="en-IN" b="1" dirty="0"/>
              <a:t>Annual Income and Spending Score</a:t>
            </a:r>
            <a:r>
              <a:rPr lang="en-IN" dirty="0"/>
              <a:t> were selected as the primary clustering features because they provide meaningful information about differences in customer financial capacity and spending </a:t>
            </a:r>
            <a:r>
              <a:rPr lang="en-IN" dirty="0" err="1"/>
              <a:t>behavior</a:t>
            </a:r>
            <a:r>
              <a:rPr lang="en-IN" dirty="0"/>
              <a:t>.</a:t>
            </a:r>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0B6A4-27DB-68CE-2D1A-0078ED06E701}"/>
              </a:ext>
            </a:extLst>
          </p:cNvPr>
          <p:cNvSpPr>
            <a:spLocks noGrp="1"/>
          </p:cNvSpPr>
          <p:nvPr>
            <p:ph type="title"/>
          </p:nvPr>
        </p:nvSpPr>
        <p:spPr/>
        <p:txBody>
          <a:bodyPr>
            <a:normAutofit fontScale="90000"/>
          </a:bodyPr>
          <a:lstStyle/>
          <a:p>
            <a:r>
              <a:rPr lang="en-IN" dirty="0"/>
              <a:t>Elbow Method for Optimal Number of Clusters</a:t>
            </a:r>
          </a:p>
        </p:txBody>
      </p:sp>
      <p:pic>
        <p:nvPicPr>
          <p:cNvPr id="5" name="Content Placeholder 4">
            <a:extLst>
              <a:ext uri="{FF2B5EF4-FFF2-40B4-BE49-F238E27FC236}">
                <a16:creationId xmlns:a16="http://schemas.microsoft.com/office/drawing/2014/main" id="{3F2B3174-6E0B-0C81-B451-D089BE00D30B}"/>
              </a:ext>
            </a:extLst>
          </p:cNvPr>
          <p:cNvPicPr>
            <a:picLocks noGrp="1" noChangeAspect="1"/>
          </p:cNvPicPr>
          <p:nvPr>
            <p:ph idx="1"/>
          </p:nvPr>
        </p:nvPicPr>
        <p:blipFill>
          <a:blip r:embed="rId2"/>
          <a:stretch>
            <a:fillRect/>
          </a:stretch>
        </p:blipFill>
        <p:spPr>
          <a:xfrm>
            <a:off x="1262062" y="1624806"/>
            <a:ext cx="6619875" cy="4476750"/>
          </a:xfrm>
          <a:prstGeom prst="rect">
            <a:avLst/>
          </a:prstGeom>
        </p:spPr>
      </p:pic>
    </p:spTree>
    <p:extLst>
      <p:ext uri="{BB962C8B-B14F-4D97-AF65-F5344CB8AC3E}">
        <p14:creationId xmlns:p14="http://schemas.microsoft.com/office/powerpoint/2010/main" val="2141366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4C3BCC-E298-FA67-E81D-7DBFE2FA6AA5}"/>
              </a:ext>
            </a:extLst>
          </p:cNvPr>
          <p:cNvSpPr>
            <a:spLocks noGrp="1"/>
          </p:cNvSpPr>
          <p:nvPr>
            <p:ph idx="1"/>
          </p:nvPr>
        </p:nvSpPr>
        <p:spPr/>
        <p:txBody>
          <a:bodyPr>
            <a:normAutofit fontScale="92500" lnSpcReduction="20000"/>
          </a:bodyPr>
          <a:lstStyle/>
          <a:p>
            <a:pPr marL="0" indent="0">
              <a:buNone/>
            </a:pPr>
            <a:r>
              <a:rPr lang="en-IN" dirty="0"/>
              <a:t>The </a:t>
            </a:r>
            <a:r>
              <a:rPr lang="en-IN" b="1" dirty="0"/>
              <a:t>Elbow Method graph</a:t>
            </a:r>
            <a:r>
              <a:rPr lang="en-IN" dirty="0"/>
              <a:t> helps determine the optimal number of clusters for the K-Means model. It plots the </a:t>
            </a:r>
            <a:r>
              <a:rPr lang="en-IN" b="1" dirty="0"/>
              <a:t>Within-Cluster Sum of Squares (WCSS)</a:t>
            </a:r>
            <a:r>
              <a:rPr lang="en-IN" dirty="0"/>
              <a:t> against different values of K. The graph shows a significant decrease in WCSS as the number of clusters increases from </a:t>
            </a:r>
            <a:r>
              <a:rPr lang="en-IN" b="1" dirty="0"/>
              <a:t>1 to 5</a:t>
            </a:r>
            <a:r>
              <a:rPr lang="en-IN" dirty="0"/>
              <a:t>. After </a:t>
            </a:r>
            <a:r>
              <a:rPr lang="en-IN" b="1" dirty="0"/>
              <a:t>K = 5</a:t>
            </a:r>
            <a:r>
              <a:rPr lang="en-IN" dirty="0"/>
              <a:t>, the curve begins to flatten, meaning additional clusters provide smaller improvements. This point is known as the </a:t>
            </a:r>
            <a:r>
              <a:rPr lang="en-IN" b="1" dirty="0"/>
              <a:t>elbow point</a:t>
            </a:r>
            <a:r>
              <a:rPr lang="en-IN" dirty="0"/>
              <a:t>. Therefore, </a:t>
            </a:r>
            <a:r>
              <a:rPr lang="en-IN" b="1" dirty="0"/>
              <a:t>K = 5</a:t>
            </a:r>
            <a:r>
              <a:rPr lang="en-IN" dirty="0"/>
              <a:t> was selected as the optimal number of clusters, providing a good balance between clustering performance and model simplicity.</a:t>
            </a:r>
          </a:p>
        </p:txBody>
      </p:sp>
    </p:spTree>
    <p:extLst>
      <p:ext uri="{BB962C8B-B14F-4D97-AF65-F5344CB8AC3E}">
        <p14:creationId xmlns:p14="http://schemas.microsoft.com/office/powerpoint/2010/main" val="4243011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24BCC-DB47-250F-41ED-467EED64D8B7}"/>
              </a:ext>
            </a:extLst>
          </p:cNvPr>
          <p:cNvSpPr>
            <a:spLocks noGrp="1"/>
          </p:cNvSpPr>
          <p:nvPr>
            <p:ph type="title"/>
          </p:nvPr>
        </p:nvSpPr>
        <p:spPr/>
        <p:txBody>
          <a:bodyPr>
            <a:normAutofit fontScale="90000"/>
          </a:bodyPr>
          <a:lstStyle/>
          <a:p>
            <a:r>
              <a:rPr lang="en-IN" dirty="0"/>
              <a:t>Silhouette Score for Different Numbers of Clusters</a:t>
            </a:r>
          </a:p>
        </p:txBody>
      </p:sp>
      <p:pic>
        <p:nvPicPr>
          <p:cNvPr id="5" name="Content Placeholder 4">
            <a:extLst>
              <a:ext uri="{FF2B5EF4-FFF2-40B4-BE49-F238E27FC236}">
                <a16:creationId xmlns:a16="http://schemas.microsoft.com/office/drawing/2014/main" id="{C3090645-66A6-F02E-A82A-EAE75A8F40C8}"/>
              </a:ext>
            </a:extLst>
          </p:cNvPr>
          <p:cNvPicPr>
            <a:picLocks noGrp="1" noChangeAspect="1"/>
          </p:cNvPicPr>
          <p:nvPr>
            <p:ph idx="1"/>
          </p:nvPr>
        </p:nvPicPr>
        <p:blipFill>
          <a:blip r:embed="rId2"/>
          <a:stretch>
            <a:fillRect/>
          </a:stretch>
        </p:blipFill>
        <p:spPr>
          <a:xfrm>
            <a:off x="1243012" y="1624806"/>
            <a:ext cx="6657975" cy="4476750"/>
          </a:xfrm>
          <a:prstGeom prst="rect">
            <a:avLst/>
          </a:prstGeom>
        </p:spPr>
      </p:pic>
    </p:spTree>
    <p:extLst>
      <p:ext uri="{BB962C8B-B14F-4D97-AF65-F5344CB8AC3E}">
        <p14:creationId xmlns:p14="http://schemas.microsoft.com/office/powerpoint/2010/main" val="29725368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207DD-7E61-282A-A125-8BD1A9ED9662}"/>
              </a:ext>
            </a:extLst>
          </p:cNvPr>
          <p:cNvSpPr>
            <a:spLocks noGrp="1"/>
          </p:cNvSpPr>
          <p:nvPr>
            <p:ph type="title"/>
          </p:nvPr>
        </p:nvSpPr>
        <p:spPr>
          <a:xfrm rot="16200000" flipH="1">
            <a:off x="3553448" y="-2229768"/>
            <a:ext cx="1191536" cy="5585642"/>
          </a:xfrm>
        </p:spPr>
        <p:txBody>
          <a:bodyPr>
            <a:normAutofit/>
          </a:bodyPr>
          <a:lstStyle/>
          <a:p>
            <a:br>
              <a:rPr lang="en-US" dirty="0"/>
            </a:br>
            <a:endParaRPr lang="en-IN" dirty="0"/>
          </a:p>
        </p:txBody>
      </p:sp>
      <p:sp>
        <p:nvSpPr>
          <p:cNvPr id="3" name="Content Placeholder 2">
            <a:extLst>
              <a:ext uri="{FF2B5EF4-FFF2-40B4-BE49-F238E27FC236}">
                <a16:creationId xmlns:a16="http://schemas.microsoft.com/office/drawing/2014/main" id="{E31CF7E0-3980-AE25-3DA0-A69AF83F7208}"/>
              </a:ext>
            </a:extLst>
          </p:cNvPr>
          <p:cNvSpPr>
            <a:spLocks noGrp="1"/>
          </p:cNvSpPr>
          <p:nvPr>
            <p:ph idx="1"/>
          </p:nvPr>
        </p:nvSpPr>
        <p:spPr/>
        <p:txBody>
          <a:bodyPr>
            <a:normAutofit fontScale="85000" lnSpcReduction="20000"/>
          </a:bodyPr>
          <a:lstStyle/>
          <a:p>
            <a:pPr>
              <a:buNone/>
            </a:pPr>
            <a:r>
              <a:rPr lang="en-IN" dirty="0"/>
              <a:t>The </a:t>
            </a:r>
            <a:r>
              <a:rPr lang="en-IN" b="1" dirty="0"/>
              <a:t>Silhouette Score graph</a:t>
            </a:r>
            <a:r>
              <a:rPr lang="en-IN" dirty="0"/>
              <a:t> evaluates the quality of clustering by measuring how similar customers are within their own cluster compared to other clusters. A higher Silhouette Score indicates better-defined and well-separated clusters. The graph compares different numbers of clusters, ranging from </a:t>
            </a:r>
            <a:r>
              <a:rPr lang="en-IN" b="1" dirty="0"/>
              <a:t>K = 2 to K = 10</a:t>
            </a:r>
            <a:r>
              <a:rPr lang="en-IN" dirty="0"/>
              <a:t>. The highest Silhouette Score is observed at </a:t>
            </a:r>
            <a:r>
              <a:rPr lang="en-IN" b="1" dirty="0"/>
              <a:t>K = 5</a:t>
            </a:r>
            <a:r>
              <a:rPr lang="en-IN" dirty="0"/>
              <a:t>, with a value of approximately </a:t>
            </a:r>
            <a:r>
              <a:rPr lang="en-IN" b="1" dirty="0"/>
              <a:t>0.55</a:t>
            </a:r>
            <a:r>
              <a:rPr lang="en-IN" dirty="0"/>
              <a:t>. After K = 5, the score gradually decreases, indicating that additional clusters do not improve the clustering quality. Therefore, </a:t>
            </a:r>
            <a:r>
              <a:rPr lang="en-IN" b="1" dirty="0"/>
              <a:t>K = 5</a:t>
            </a:r>
            <a:r>
              <a:rPr lang="en-IN" dirty="0"/>
              <a:t> was selected as the optimal number of clusters for the Customer Segmentation project.</a:t>
            </a:r>
          </a:p>
          <a:p>
            <a:endParaRPr lang="en-IN" dirty="0"/>
          </a:p>
        </p:txBody>
      </p:sp>
    </p:spTree>
    <p:extLst>
      <p:ext uri="{BB962C8B-B14F-4D97-AF65-F5344CB8AC3E}">
        <p14:creationId xmlns:p14="http://schemas.microsoft.com/office/powerpoint/2010/main" val="1586818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22EEF-0B4E-9AC9-5703-F009BD6C11E2}"/>
              </a:ext>
            </a:extLst>
          </p:cNvPr>
          <p:cNvSpPr>
            <a:spLocks noGrp="1"/>
          </p:cNvSpPr>
          <p:nvPr>
            <p:ph type="title"/>
          </p:nvPr>
        </p:nvSpPr>
        <p:spPr/>
        <p:txBody>
          <a:bodyPr>
            <a:normAutofit fontScale="90000"/>
          </a:bodyPr>
          <a:lstStyle/>
          <a:p>
            <a:r>
              <a:rPr lang="en-IN" dirty="0"/>
              <a:t>Customer Segmentation Using K-Means Clustering</a:t>
            </a:r>
          </a:p>
        </p:txBody>
      </p:sp>
      <p:pic>
        <p:nvPicPr>
          <p:cNvPr id="5" name="Content Placeholder 4">
            <a:extLst>
              <a:ext uri="{FF2B5EF4-FFF2-40B4-BE49-F238E27FC236}">
                <a16:creationId xmlns:a16="http://schemas.microsoft.com/office/drawing/2014/main" id="{914CE767-26D6-0A71-3023-2F0BBA37D270}"/>
              </a:ext>
            </a:extLst>
          </p:cNvPr>
          <p:cNvPicPr>
            <a:picLocks noGrp="1" noChangeAspect="1"/>
          </p:cNvPicPr>
          <p:nvPr>
            <p:ph idx="1"/>
          </p:nvPr>
        </p:nvPicPr>
        <p:blipFill>
          <a:blip r:embed="rId2"/>
          <a:stretch>
            <a:fillRect/>
          </a:stretch>
        </p:blipFill>
        <p:spPr>
          <a:xfrm>
            <a:off x="1489413" y="1600200"/>
            <a:ext cx="6165173" cy="4525963"/>
          </a:xfrm>
          <a:prstGeom prst="rect">
            <a:avLst/>
          </a:prstGeom>
        </p:spPr>
      </p:pic>
    </p:spTree>
    <p:extLst>
      <p:ext uri="{BB962C8B-B14F-4D97-AF65-F5344CB8AC3E}">
        <p14:creationId xmlns:p14="http://schemas.microsoft.com/office/powerpoint/2010/main" val="13017493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6EF2CF-6FE8-74B2-8E7A-73DFBB661E9D}"/>
              </a:ext>
            </a:extLst>
          </p:cNvPr>
          <p:cNvSpPr>
            <a:spLocks noGrp="1"/>
          </p:cNvSpPr>
          <p:nvPr>
            <p:ph idx="1"/>
          </p:nvPr>
        </p:nvSpPr>
        <p:spPr/>
        <p:txBody>
          <a:bodyPr>
            <a:normAutofit fontScale="70000" lnSpcReduction="20000"/>
          </a:bodyPr>
          <a:lstStyle/>
          <a:p>
            <a:pPr>
              <a:buNone/>
            </a:pPr>
            <a:r>
              <a:rPr lang="en-IN" dirty="0"/>
              <a:t>The </a:t>
            </a:r>
            <a:r>
              <a:rPr lang="en-IN" b="1" dirty="0"/>
              <a:t>Customer Segmentation Using K-Means Clustering</a:t>
            </a:r>
            <a:r>
              <a:rPr lang="en-IN" dirty="0"/>
              <a:t> graph visually represents how customers are grouped based on their </a:t>
            </a:r>
            <a:r>
              <a:rPr lang="en-IN" b="1" dirty="0"/>
              <a:t>Annual Income</a:t>
            </a:r>
            <a:r>
              <a:rPr lang="en-IN" dirty="0"/>
              <a:t> and </a:t>
            </a:r>
            <a:r>
              <a:rPr lang="en-IN" b="1" dirty="0"/>
              <a:t>Spending Score</a:t>
            </a:r>
            <a:r>
              <a:rPr lang="en-IN" dirty="0"/>
              <a:t>. Each data point represents an individual customer, while different </a:t>
            </a:r>
            <a:r>
              <a:rPr lang="en-IN" dirty="0" err="1"/>
              <a:t>colors</a:t>
            </a:r>
            <a:r>
              <a:rPr lang="en-IN" dirty="0"/>
              <a:t> represent the five clusters identified by the K-Means algorithm. The visualization clearly demonstrates that customers with similar income levels and spending </a:t>
            </a:r>
            <a:r>
              <a:rPr lang="en-IN" dirty="0" err="1"/>
              <a:t>behavior</a:t>
            </a:r>
            <a:r>
              <a:rPr lang="en-IN" dirty="0"/>
              <a:t> are grouped together. These clusters help identify distinct customer patterns, including low-value customers, high-spending customers, high-value customers, and high-income low-spending customers. The graph makes the clustering results easy to understand and provides a visual foundation for customer profiling, targeted marketing strategies, personalized offers, customer retention, and other business decision-making activities.</a:t>
            </a:r>
          </a:p>
          <a:p>
            <a:pPr marL="0" indent="0">
              <a:buNone/>
            </a:pPr>
            <a:endParaRPr lang="en-IN" dirty="0"/>
          </a:p>
        </p:txBody>
      </p:sp>
    </p:spTree>
    <p:extLst>
      <p:ext uri="{BB962C8B-B14F-4D97-AF65-F5344CB8AC3E}">
        <p14:creationId xmlns:p14="http://schemas.microsoft.com/office/powerpoint/2010/main" val="3591555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Project Methodology</a:t>
            </a:r>
          </a:p>
        </p:txBody>
      </p:sp>
      <p:sp>
        <p:nvSpPr>
          <p:cNvPr id="4" name="TextBox 3"/>
          <p:cNvSpPr txBox="1"/>
          <p:nvPr/>
        </p:nvSpPr>
        <p:spPr>
          <a:xfrm>
            <a:off x="731520" y="1051560"/>
            <a:ext cx="10744200" cy="4247317"/>
          </a:xfrm>
          <a:prstGeom prst="rect">
            <a:avLst/>
          </a:prstGeom>
          <a:noFill/>
        </p:spPr>
        <p:txBody>
          <a:bodyPr wrap="square">
            <a:spAutoFit/>
          </a:bodyPr>
          <a:lstStyle/>
          <a:p>
            <a:pPr>
              <a:buNone/>
            </a:pPr>
            <a:r>
              <a:rPr lang="en-IN" dirty="0"/>
              <a:t>The project follows a structured end-to-end Data Science methodology to transform raw customer data into meaningful customer segments and actionable business insights. The process begins with loading and understanding the dataset, followed by data quality analysis to examine missing values, duplicate records, data types, dataset structure, and statistical characteristics. This initial stage ensures that the customer data is properly understood and suitable for further analysis.</a:t>
            </a:r>
          </a:p>
          <a:p>
            <a:pPr>
              <a:buNone/>
            </a:pPr>
            <a:r>
              <a:rPr lang="en-IN" dirty="0"/>
              <a:t>Exploratory Data Analysis is then conducted to examine customer demographics, age distribution, income patterns, spending </a:t>
            </a:r>
            <a:r>
              <a:rPr lang="en-IN" dirty="0" err="1"/>
              <a:t>behavior</a:t>
            </a:r>
            <a:r>
              <a:rPr lang="en-IN" dirty="0"/>
              <a:t>, and relationships between important variables. Data visualizations are used to identify meaningful patterns and variations within the customer population.</a:t>
            </a:r>
          </a:p>
          <a:p>
            <a:pPr>
              <a:buNone/>
            </a:pPr>
            <a:r>
              <a:rPr lang="en-IN" dirty="0"/>
              <a:t>Suitable features are selected for the clustering process and standardized before applying the K-Means algorithm. Different values of K are evaluated using the Elbow Method and Silhouette Score to identify an appropriate clustering solution and assess cluster quality.</a:t>
            </a:r>
          </a:p>
          <a:p>
            <a:pPr>
              <a:buNone/>
            </a:pPr>
            <a:r>
              <a:rPr lang="en-IN" dirty="0"/>
              <a:t>The final clusters are subsequently profiled based on their characteristics and interpreted from a business perspective. This methodology enables the project to progress systematically from raw customer data to meaningful customer segments, supporting targeted marketing strategies, personalized customer engagement, and effective data-driven business decision-making.</a:t>
            </a:r>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8</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Project Workflow</a:t>
            </a:r>
          </a:p>
        </p:txBody>
      </p:sp>
      <p:sp>
        <p:nvSpPr>
          <p:cNvPr id="4" name="TextBox 3"/>
          <p:cNvSpPr txBox="1"/>
          <p:nvPr/>
        </p:nvSpPr>
        <p:spPr>
          <a:xfrm>
            <a:off x="731520" y="1051560"/>
            <a:ext cx="10744200" cy="5303520"/>
          </a:xfrm>
          <a:prstGeom prst="rect">
            <a:avLst/>
          </a:prstGeom>
          <a:noFill/>
        </p:spPr>
        <p:txBody>
          <a:bodyPr wrap="square">
            <a:spAutoFit/>
          </a:bodyPr>
          <a:lstStyle/>
          <a:p>
            <a:pPr algn="l">
              <a:spcAft>
                <a:spcPts val="1200"/>
              </a:spcAft>
              <a:defRPr sz="1800">
                <a:latin typeface="Aptos"/>
              </a:defRPr>
            </a:pPr>
            <a:r>
              <a:t>1. Data Loading</a:t>
            </a:r>
            <a:br/>
            <a:r>
              <a:t>2. Data Understanding</a:t>
            </a:r>
            <a:br/>
            <a:r>
              <a:t>3. Data Quality Analysis</a:t>
            </a:r>
            <a:br/>
            <a:r>
              <a:t>4. Exploratory Data Analysis</a:t>
            </a:r>
            <a:br/>
            <a:r>
              <a:t>5. Feature Selection</a:t>
            </a:r>
            <a:br/>
            <a:r>
              <a:t>6. Feature Scaling</a:t>
            </a:r>
            <a:br/>
            <a:r>
              <a:t>7. Elbow Method</a:t>
            </a:r>
            <a:br/>
            <a:r>
              <a:t>8. Silhouette Score</a:t>
            </a:r>
            <a:br/>
            <a:r>
              <a:t>9. K-Means Clustering</a:t>
            </a:r>
            <a:br/>
            <a:r>
              <a:t>10. Cluster Profiling</a:t>
            </a:r>
            <a:br/>
            <a:r>
              <a:t>11. Customer Segment Analysis</a:t>
            </a:r>
            <a:br/>
            <a:r>
              <a:t>12. Business Recommendations</a:t>
            </a:r>
            <a:br/>
            <a:r>
              <a:t>13. Model Evaluation</a:t>
            </a:r>
            <a:br/>
            <a:r>
              <a:t>14. Results Export</a:t>
            </a:r>
            <a:br/>
            <a:r>
              <a:t>15. Streamlit Deployment</a:t>
            </a:r>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9</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System Architecture</a:t>
            </a:r>
          </a:p>
        </p:txBody>
      </p:sp>
      <p:sp>
        <p:nvSpPr>
          <p:cNvPr id="4" name="TextBox 3"/>
          <p:cNvSpPr txBox="1"/>
          <p:nvPr/>
        </p:nvSpPr>
        <p:spPr>
          <a:xfrm>
            <a:off x="731520" y="1051560"/>
            <a:ext cx="10744200" cy="4801314"/>
          </a:xfrm>
          <a:prstGeom prst="rect">
            <a:avLst/>
          </a:prstGeom>
          <a:noFill/>
        </p:spPr>
        <p:txBody>
          <a:bodyPr wrap="square">
            <a:spAutoFit/>
          </a:bodyPr>
          <a:lstStyle/>
          <a:p>
            <a:pPr>
              <a:buNone/>
            </a:pPr>
            <a:r>
              <a:rPr lang="en-IN" dirty="0"/>
              <a:t>The system architecture represents the complete end-to-end flow of the Customer Segmentation project, beginning with raw customer information and progressing through data analysis, Machine Learning, business interpretation, and application deployment.</a:t>
            </a:r>
          </a:p>
          <a:p>
            <a:pPr>
              <a:buNone/>
            </a:pPr>
            <a:r>
              <a:rPr lang="en-IN" b="1" dirty="0"/>
              <a:t>Mall Customer Dataset → Data Quality Analysis → Exploratory Data Analysis → Feature Selection → Feature Scaling → Cluster Evaluation → K-Means Clustering → Cluster Assignment → Cluster Profiling → Business Segmentation → Business Insights → Results Export → </a:t>
            </a:r>
            <a:r>
              <a:rPr lang="en-IN" b="1" dirty="0" err="1"/>
              <a:t>Streamlit</a:t>
            </a:r>
            <a:r>
              <a:rPr lang="en-IN" b="1" dirty="0"/>
              <a:t> Deployment</a:t>
            </a:r>
            <a:endParaRPr lang="en-IN" dirty="0"/>
          </a:p>
          <a:p>
            <a:pPr>
              <a:buNone/>
            </a:pPr>
            <a:r>
              <a:rPr lang="en-IN" dirty="0"/>
              <a:t>The process begins with the Mall Customer Dataset, where customer information is examined through data quality analysis to understand the structure, completeness, and reliability of the data. Exploratory Data Analysis is then performed to identify customer characteristics, income patterns, spending </a:t>
            </a:r>
            <a:r>
              <a:rPr lang="en-IN" dirty="0" err="1"/>
              <a:t>behavior</a:t>
            </a:r>
            <a:r>
              <a:rPr lang="en-IN" dirty="0"/>
              <a:t>, and relationships between important variables.</a:t>
            </a:r>
          </a:p>
          <a:p>
            <a:pPr>
              <a:buNone/>
            </a:pPr>
            <a:r>
              <a:rPr lang="en-IN" dirty="0"/>
              <a:t>Suitable features are selected and scaled before cluster evaluation and K-Means Clustering. The resulting customer clusters are assigned and profiled to understand their characteristics. These technical clustering results are subsequently translated into meaningful business segments and actionable business insights.</a:t>
            </a:r>
          </a:p>
          <a:p>
            <a:pPr>
              <a:buNone/>
            </a:pPr>
            <a:r>
              <a:rPr lang="en-IN" dirty="0"/>
              <a:t>Finally, the results are visualized and exported for further analysis, while the Machine Learning workflow is deployed through an interactive </a:t>
            </a:r>
            <a:r>
              <a:rPr lang="en-IN" dirty="0" err="1"/>
              <a:t>Streamlit</a:t>
            </a:r>
            <a:r>
              <a:rPr lang="en-IN" dirty="0"/>
              <a:t> application. The architecture therefore demonstrates how raw customer data is systematically transformed into meaningful customer segments and practical business-oriented analytical outputs.</a:t>
            </a:r>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10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Data Quality Analysis</a:t>
            </a:r>
          </a:p>
        </p:txBody>
      </p:sp>
      <p:sp>
        <p:nvSpPr>
          <p:cNvPr id="4" name="TextBox 3"/>
          <p:cNvSpPr txBox="1"/>
          <p:nvPr/>
        </p:nvSpPr>
        <p:spPr>
          <a:xfrm>
            <a:off x="731520" y="1051560"/>
            <a:ext cx="10744200" cy="3970318"/>
          </a:xfrm>
          <a:prstGeom prst="rect">
            <a:avLst/>
          </a:prstGeom>
          <a:noFill/>
        </p:spPr>
        <p:txBody>
          <a:bodyPr wrap="square">
            <a:spAutoFit/>
          </a:bodyPr>
          <a:lstStyle/>
          <a:p>
            <a:pPr>
              <a:buNone/>
            </a:pPr>
            <a:r>
              <a:rPr lang="en-IN" dirty="0"/>
              <a:t>Data quality analysis is performed before applying Machine Learning to ensure that the customer dataset is suitable for reliable analysis and clustering. The dataset is systematically examined for missing values, duplicate records, data types, dataset dimensions, column information, and descriptive statistical characteristics. This process helps establish a clear understanding of the overall structure, completeness, and quality of the available customer data.</a:t>
            </a:r>
          </a:p>
          <a:p>
            <a:pPr>
              <a:buNone/>
            </a:pPr>
            <a:r>
              <a:rPr lang="en-IN" dirty="0"/>
              <a:t>The analysis also ensures that each feature is properly understood before proceeding to subsequent stages of the project. </a:t>
            </a:r>
            <a:r>
              <a:rPr lang="en-IN" dirty="0" err="1"/>
              <a:t>CustomerID</a:t>
            </a:r>
            <a:r>
              <a:rPr lang="en-IN" dirty="0"/>
              <a:t> is identified as a unique identifier assigned to individual customers rather than a meaningful </a:t>
            </a:r>
            <a:r>
              <a:rPr lang="en-IN" dirty="0" err="1"/>
              <a:t>behavioral</a:t>
            </a:r>
            <a:r>
              <a:rPr lang="en-IN" dirty="0"/>
              <a:t> or financial variable for clustering. Therefore, it is not considered a primary feature for the K-Means model.</a:t>
            </a:r>
          </a:p>
          <a:p>
            <a:pPr>
              <a:buNone/>
            </a:pPr>
            <a:r>
              <a:rPr lang="en-IN" dirty="0"/>
              <a:t>The remaining variables are further examined to understand their relevance to customer demographics, financial capacity, and spending </a:t>
            </a:r>
            <a:r>
              <a:rPr lang="en-IN" dirty="0" err="1"/>
              <a:t>behavior</a:t>
            </a:r>
            <a:r>
              <a:rPr lang="en-IN" dirty="0"/>
              <a:t>. Data quality analysis provides the foundation for Exploratory Data Analysis by identifying potential issues and confirming the suitability of the dataset.</a:t>
            </a:r>
          </a:p>
          <a:p>
            <a:pPr>
              <a:buNone/>
            </a:pPr>
            <a:r>
              <a:rPr lang="en-IN" dirty="0"/>
              <a:t>Overall, this step ensures that the customer data is properly understood, organized, and prepared before performing Exploratory Data Analysis, feature selection, feature scaling, and K-Means Clustering.</a:t>
            </a:r>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11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Exploratory Data Analysis</a:t>
            </a:r>
          </a:p>
        </p:txBody>
      </p:sp>
      <p:sp>
        <p:nvSpPr>
          <p:cNvPr id="4" name="TextBox 3"/>
          <p:cNvSpPr txBox="1"/>
          <p:nvPr/>
        </p:nvSpPr>
        <p:spPr>
          <a:xfrm>
            <a:off x="731520" y="1051560"/>
            <a:ext cx="10744200" cy="4247317"/>
          </a:xfrm>
          <a:prstGeom prst="rect">
            <a:avLst/>
          </a:prstGeom>
          <a:noFill/>
        </p:spPr>
        <p:txBody>
          <a:bodyPr wrap="square">
            <a:spAutoFit/>
          </a:bodyPr>
          <a:lstStyle/>
          <a:p>
            <a:pPr>
              <a:buNone/>
            </a:pPr>
            <a:r>
              <a:rPr lang="en-IN" dirty="0"/>
              <a:t>Exploratory Data Analysis is performed to develop a comprehensive understanding of customer characteristics and the relationships between important variables in the dataset. The analysis examines customer age distribution, gender distribution, annual income distribution, and spending score distribution to understand variations within the customer population.</a:t>
            </a:r>
          </a:p>
          <a:p>
            <a:pPr>
              <a:buNone/>
            </a:pPr>
            <a:r>
              <a:rPr lang="en-IN" dirty="0"/>
              <a:t>The relationships between important variables are also </a:t>
            </a:r>
            <a:r>
              <a:rPr lang="en-IN" dirty="0" err="1"/>
              <a:t>analyzed</a:t>
            </a:r>
            <a:r>
              <a:rPr lang="en-IN" dirty="0"/>
              <a:t>, including Annual Income versus Spending Score, Age versus Annual Income, and Age versus Spending Score. These comparisons help identify patterns, trends, and differences in customer financial capacity and spending </a:t>
            </a:r>
            <a:r>
              <a:rPr lang="en-IN" dirty="0" err="1"/>
              <a:t>behavior</a:t>
            </a:r>
            <a:r>
              <a:rPr lang="en-IN" dirty="0"/>
              <a:t>. A correlation analysis is further performed to understand the relationships between the numerical features available in the dataset.</a:t>
            </a:r>
          </a:p>
          <a:p>
            <a:pPr>
              <a:buNone/>
            </a:pPr>
            <a:r>
              <a:rPr lang="en-IN" dirty="0"/>
              <a:t>Visualizations such as distribution plots, scatter plots, bar charts, pair plots, and correlation heatmaps are used to present the analytical findings clearly and effectively. These visual analyses help identify customer patterns and potential groupings before applying the Machine Learning model.</a:t>
            </a:r>
          </a:p>
          <a:p>
            <a:pPr>
              <a:buNone/>
            </a:pPr>
            <a:r>
              <a:rPr lang="en-IN" dirty="0"/>
              <a:t>Overall, Exploratory Data Analysis provides an important analytical foundation for the project by improving understanding of the customer data and supporting informed feature selection and clustering decisions. The insights obtained during this stage help prepare the dataset for K-Means Clustering and contribute to the identification of meaningful customer segments.</a:t>
            </a:r>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12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Exploratory Data Visualizations</a:t>
            </a:r>
          </a:p>
        </p:txBody>
      </p:sp>
      <p:sp>
        <p:nvSpPr>
          <p:cNvPr id="4" name="TextBox 3"/>
          <p:cNvSpPr txBox="1"/>
          <p:nvPr/>
        </p:nvSpPr>
        <p:spPr>
          <a:xfrm>
            <a:off x="731520" y="1051560"/>
            <a:ext cx="10744200" cy="4524315"/>
          </a:xfrm>
          <a:prstGeom prst="rect">
            <a:avLst/>
          </a:prstGeom>
          <a:noFill/>
        </p:spPr>
        <p:txBody>
          <a:bodyPr wrap="square">
            <a:spAutoFit/>
          </a:bodyPr>
          <a:lstStyle/>
          <a:p>
            <a:pPr>
              <a:buNone/>
            </a:pPr>
            <a:r>
              <a:rPr lang="en-IN" dirty="0"/>
              <a:t>The project includes a comprehensive set of visualizations designed to </a:t>
            </a:r>
            <a:r>
              <a:rPr lang="en-IN" dirty="0" err="1"/>
              <a:t>analyze</a:t>
            </a:r>
            <a:r>
              <a:rPr lang="en-IN" dirty="0"/>
              <a:t> customer demographics, income levels, spending </a:t>
            </a:r>
            <a:r>
              <a:rPr lang="en-IN" dirty="0" err="1"/>
              <a:t>behavior</a:t>
            </a:r>
            <a:r>
              <a:rPr lang="en-IN" dirty="0"/>
              <a:t>, gender distribution, feature relationships, and correlation patterns. These visualizations provide a clear and graphical understanding of the customer dataset and help identify meaningful patterns before applying the clustering algorithm.</a:t>
            </a:r>
          </a:p>
          <a:p>
            <a:pPr>
              <a:buNone/>
            </a:pPr>
            <a:r>
              <a:rPr lang="en-IN" dirty="0"/>
              <a:t>Important visualizations include </a:t>
            </a:r>
            <a:r>
              <a:rPr lang="en-IN" b="1" dirty="0"/>
              <a:t>Age vs Annual Income</a:t>
            </a:r>
            <a:r>
              <a:rPr lang="en-IN" dirty="0"/>
              <a:t>, which examines the relationship between customer age and financial capacity, and </a:t>
            </a:r>
            <a:r>
              <a:rPr lang="en-IN" b="1" dirty="0"/>
              <a:t>Age vs Spending Score</a:t>
            </a:r>
            <a:r>
              <a:rPr lang="en-IN" dirty="0"/>
              <a:t>, which helps </a:t>
            </a:r>
            <a:r>
              <a:rPr lang="en-IN" dirty="0" err="1"/>
              <a:t>analyze</a:t>
            </a:r>
            <a:r>
              <a:rPr lang="en-IN" dirty="0"/>
              <a:t> how spending </a:t>
            </a:r>
            <a:r>
              <a:rPr lang="en-IN" dirty="0" err="1"/>
              <a:t>behavior</a:t>
            </a:r>
            <a:r>
              <a:rPr lang="en-IN" dirty="0"/>
              <a:t> varies across different age groups. </a:t>
            </a:r>
            <a:r>
              <a:rPr lang="en-IN" b="1" dirty="0"/>
              <a:t>Annual Income Distribution</a:t>
            </a:r>
            <a:r>
              <a:rPr lang="en-IN" dirty="0"/>
              <a:t> and </a:t>
            </a:r>
            <a:r>
              <a:rPr lang="en-IN" b="1" dirty="0"/>
              <a:t>Spending Score Distribution</a:t>
            </a:r>
            <a:r>
              <a:rPr lang="en-IN" dirty="0"/>
              <a:t> provide insights into the overall distribution and variation of customer financial and </a:t>
            </a:r>
            <a:r>
              <a:rPr lang="en-IN" dirty="0" err="1"/>
              <a:t>behavioral</a:t>
            </a:r>
            <a:r>
              <a:rPr lang="en-IN" dirty="0"/>
              <a:t> characteristics.</a:t>
            </a:r>
          </a:p>
          <a:p>
            <a:pPr>
              <a:buNone/>
            </a:pPr>
            <a:r>
              <a:rPr lang="en-IN" dirty="0"/>
              <a:t>The </a:t>
            </a:r>
            <a:r>
              <a:rPr lang="en-IN" b="1" dirty="0"/>
              <a:t>Annual Income vs Spending Score</a:t>
            </a:r>
            <a:r>
              <a:rPr lang="en-IN" dirty="0"/>
              <a:t> visualization is particularly important because these two features are used as the primary variables for K-Means Clustering. The </a:t>
            </a:r>
            <a:r>
              <a:rPr lang="en-IN" b="1" dirty="0"/>
              <a:t>Correlation Heatmap</a:t>
            </a:r>
            <a:r>
              <a:rPr lang="en-IN" dirty="0"/>
              <a:t> provides an overview of relationships between numerical customer features, while the </a:t>
            </a:r>
            <a:r>
              <a:rPr lang="en-IN" b="1" dirty="0"/>
              <a:t>Customer Feature </a:t>
            </a:r>
            <a:r>
              <a:rPr lang="en-IN" b="1" dirty="0" err="1"/>
              <a:t>Pairplot</a:t>
            </a:r>
            <a:r>
              <a:rPr lang="en-IN" dirty="0"/>
              <a:t> enables the simultaneous examination of relationships and distributions across multiple variables.</a:t>
            </a:r>
          </a:p>
          <a:p>
            <a:pPr>
              <a:buNone/>
            </a:pPr>
            <a:r>
              <a:rPr lang="en-IN" dirty="0"/>
              <a:t>These visualizations establish an important analytical foundation for understanding the dataset, supporting feature selection, identifying potential customer patterns, and preparing the data for meaningful customer segmentation.</a:t>
            </a:r>
          </a:p>
          <a:p>
            <a:pPr algn="l">
              <a:spcAft>
                <a:spcPts val="1200"/>
              </a:spcAft>
              <a:defRPr sz="1800">
                <a:latin typeface="Aptos"/>
              </a:defRPr>
            </a:pPr>
            <a:endParaRPr dirty="0"/>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13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Feature Selection</a:t>
            </a:r>
          </a:p>
        </p:txBody>
      </p:sp>
      <p:sp>
        <p:nvSpPr>
          <p:cNvPr id="4" name="TextBox 3"/>
          <p:cNvSpPr txBox="1"/>
          <p:nvPr/>
        </p:nvSpPr>
        <p:spPr>
          <a:xfrm>
            <a:off x="731520" y="1051560"/>
            <a:ext cx="10744200" cy="3970318"/>
          </a:xfrm>
          <a:prstGeom prst="rect">
            <a:avLst/>
          </a:prstGeom>
          <a:noFill/>
        </p:spPr>
        <p:txBody>
          <a:bodyPr wrap="square">
            <a:spAutoFit/>
          </a:bodyPr>
          <a:lstStyle/>
          <a:p>
            <a:pPr>
              <a:buNone/>
            </a:pPr>
            <a:r>
              <a:rPr lang="en-IN" dirty="0"/>
              <a:t>Feature selection is an important stage in the customer segmentation process because the selected variables directly influence the quality, structure, and interpretability of the clustering results. Appropriate features help the K-Means algorithm identify meaningful similarities and differences among customers.</a:t>
            </a:r>
          </a:p>
          <a:p>
            <a:pPr>
              <a:buNone/>
            </a:pPr>
            <a:r>
              <a:rPr lang="en-IN" dirty="0"/>
              <a:t>The final clustering model primarily uses </a:t>
            </a:r>
            <a:r>
              <a:rPr lang="en-IN" b="1" dirty="0"/>
              <a:t>Annual Income (k$)</a:t>
            </a:r>
            <a:r>
              <a:rPr lang="en-IN" dirty="0"/>
              <a:t> and </a:t>
            </a:r>
            <a:r>
              <a:rPr lang="en-IN" b="1" dirty="0"/>
              <a:t>Spending Score (1–100)</a:t>
            </a:r>
            <a:r>
              <a:rPr lang="en-IN" dirty="0"/>
              <a:t>. Annual Income represents the financial capacity and potential purchasing power of a customer, while Spending Score represents the customer's relative spending </a:t>
            </a:r>
            <a:r>
              <a:rPr lang="en-IN" dirty="0" err="1"/>
              <a:t>behavior</a:t>
            </a:r>
            <a:r>
              <a:rPr lang="en-IN" dirty="0"/>
              <a:t> and level of purchasing activity.</a:t>
            </a:r>
          </a:p>
          <a:p>
            <a:pPr>
              <a:buNone/>
            </a:pPr>
            <a:r>
              <a:rPr lang="en-IN" dirty="0"/>
              <a:t>These two variables were selected because they provide complementary information about customer </a:t>
            </a:r>
            <a:r>
              <a:rPr lang="en-IN" dirty="0" err="1"/>
              <a:t>behavior</a:t>
            </a:r>
            <a:r>
              <a:rPr lang="en-IN" dirty="0"/>
              <a:t>. A customer may have a high income but demonstrate low spending </a:t>
            </a:r>
            <a:r>
              <a:rPr lang="en-IN" dirty="0" err="1"/>
              <a:t>behavior</a:t>
            </a:r>
            <a:r>
              <a:rPr lang="en-IN" dirty="0"/>
              <a:t>, while another customer may have a comparatively lower income and a higher spending pattern. </a:t>
            </a:r>
            <a:r>
              <a:rPr lang="en-IN" dirty="0" err="1"/>
              <a:t>Analyzing</a:t>
            </a:r>
            <a:r>
              <a:rPr lang="en-IN" dirty="0"/>
              <a:t> these characteristics together helps reveal meaningful differences among customers.</a:t>
            </a:r>
          </a:p>
          <a:p>
            <a:pPr>
              <a:buNone/>
            </a:pPr>
            <a:r>
              <a:rPr lang="en-IN" dirty="0"/>
              <a:t>Therefore, the combination of Annual Income and Spending Score provides a strong analytical foundation for K-Means Clustering. The selected features enable the identification of customer groups with distinct financial capacity and spending characteristics, allowing the final clusters to be interpreted as meaningful business-oriented customer segments.</a:t>
            </a:r>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14</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Feature Scaling</a:t>
            </a:r>
          </a:p>
        </p:txBody>
      </p:sp>
      <p:sp>
        <p:nvSpPr>
          <p:cNvPr id="4" name="TextBox 3"/>
          <p:cNvSpPr txBox="1"/>
          <p:nvPr/>
        </p:nvSpPr>
        <p:spPr>
          <a:xfrm>
            <a:off x="731520" y="1051560"/>
            <a:ext cx="10744200" cy="3693319"/>
          </a:xfrm>
          <a:prstGeom prst="rect">
            <a:avLst/>
          </a:prstGeom>
          <a:noFill/>
        </p:spPr>
        <p:txBody>
          <a:bodyPr wrap="square">
            <a:spAutoFit/>
          </a:bodyPr>
          <a:lstStyle/>
          <a:p>
            <a:pPr>
              <a:buNone/>
            </a:pPr>
            <a:r>
              <a:rPr lang="en-IN" dirty="0"/>
              <a:t>K-Means is a distance-based Machine Learning algorithm that groups similar data points by calculating the distance between observations and cluster centroids. Therefore, feature scaling is performed before clustering to ensure that the selected variables contribute appropriately to the distance calculation.</a:t>
            </a:r>
          </a:p>
          <a:p>
            <a:pPr>
              <a:buNone/>
            </a:pPr>
            <a:r>
              <a:rPr lang="en-IN" dirty="0"/>
              <a:t>The selected </a:t>
            </a:r>
            <a:r>
              <a:rPr lang="en-IN" b="1" dirty="0"/>
              <a:t>Annual Income</a:t>
            </a:r>
            <a:r>
              <a:rPr lang="en-IN" dirty="0"/>
              <a:t> and </a:t>
            </a:r>
            <a:r>
              <a:rPr lang="en-IN" b="1" dirty="0"/>
              <a:t>Spending Score</a:t>
            </a:r>
            <a:r>
              <a:rPr lang="en-IN" dirty="0"/>
              <a:t> features are standardized using </a:t>
            </a:r>
            <a:r>
              <a:rPr lang="en-IN" b="1" dirty="0" err="1"/>
              <a:t>StandardScaler</a:t>
            </a:r>
            <a:r>
              <a:rPr lang="en-IN" dirty="0"/>
              <a:t>. Standardization transforms the features to a common scale, helping prevent differences in numerical ranges from disproportionately influencing the clustering process.</a:t>
            </a:r>
          </a:p>
          <a:p>
            <a:pPr>
              <a:buNone/>
            </a:pPr>
            <a:r>
              <a:rPr lang="en-IN" dirty="0"/>
              <a:t>Without feature scaling, a variable with a larger numerical range could have a greater influence on the distance calculations, even when that variable is not necessarily more important for customer segmentation. Standardization helps address this issue by ensuring that both selected features are considered more fairly during the clustering process.</a:t>
            </a:r>
          </a:p>
          <a:p>
            <a:pPr>
              <a:buNone/>
            </a:pPr>
            <a:r>
              <a:rPr lang="en-IN" dirty="0"/>
              <a:t>Feature scaling therefore supports a more balanced and reliable application of the K-Means algorithm. By preparing Annual Income and Spending Score on a comparable scale, the model can more effectively identify similarities and differences among customers, resulting in meaningful and interpretable customer segments.</a:t>
            </a:r>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15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Machine Learning Algorithm</a:t>
            </a:r>
          </a:p>
        </p:txBody>
      </p:sp>
      <p:sp>
        <p:nvSpPr>
          <p:cNvPr id="4" name="TextBox 3"/>
          <p:cNvSpPr txBox="1"/>
          <p:nvPr/>
        </p:nvSpPr>
        <p:spPr>
          <a:xfrm>
            <a:off x="731520" y="1051560"/>
            <a:ext cx="10744200" cy="4247317"/>
          </a:xfrm>
          <a:prstGeom prst="rect">
            <a:avLst/>
          </a:prstGeom>
          <a:noFill/>
        </p:spPr>
        <p:txBody>
          <a:bodyPr wrap="square">
            <a:spAutoFit/>
          </a:bodyPr>
          <a:lstStyle/>
          <a:p>
            <a:pPr>
              <a:buNone/>
            </a:pPr>
            <a:r>
              <a:rPr lang="en-IN" dirty="0"/>
              <a:t>The Machine Learning algorithm used in this project is </a:t>
            </a:r>
            <a:r>
              <a:rPr lang="en-IN" b="1" dirty="0"/>
              <a:t>K-Means Clustering</a:t>
            </a:r>
            <a:r>
              <a:rPr lang="en-IN" dirty="0"/>
              <a:t>, an Unsupervised Machine Learning technique designed to identify natural groups within data based on similarities between observations.</a:t>
            </a:r>
          </a:p>
          <a:p>
            <a:pPr>
              <a:buNone/>
            </a:pPr>
            <a:r>
              <a:rPr lang="en-IN" dirty="0"/>
              <a:t>K-Means works by dividing data points into a predefined number of clusters. In this project, customers are grouped according to similarities in their </a:t>
            </a:r>
            <a:r>
              <a:rPr lang="en-IN" b="1" dirty="0"/>
              <a:t>Annual Income</a:t>
            </a:r>
            <a:r>
              <a:rPr lang="en-IN" dirty="0"/>
              <a:t> and </a:t>
            </a:r>
            <a:r>
              <a:rPr lang="en-IN" b="1" dirty="0"/>
              <a:t>Spending Score</a:t>
            </a:r>
            <a:r>
              <a:rPr lang="en-IN" dirty="0"/>
              <a:t>. The algorithm identifies cluster </a:t>
            </a:r>
            <a:r>
              <a:rPr lang="en-IN" dirty="0" err="1"/>
              <a:t>centers</a:t>
            </a:r>
            <a:r>
              <a:rPr lang="en-IN" dirty="0"/>
              <a:t>, known as centroids, and assigns each customer to the cluster with the most similar characteristics based on distance calculations.</a:t>
            </a:r>
          </a:p>
          <a:p>
            <a:pPr>
              <a:buNone/>
            </a:pPr>
            <a:r>
              <a:rPr lang="en-IN" dirty="0"/>
              <a:t>Customers within the same cluster generally share relatively similar income and spending patterns, while customers belonging to different clusters demonstrate more distinct characteristics. This enables the model to identify meaningful differences within the overall customer population.</a:t>
            </a:r>
          </a:p>
          <a:p>
            <a:pPr>
              <a:buNone/>
            </a:pPr>
            <a:r>
              <a:rPr lang="en-IN" dirty="0"/>
              <a:t>The resulting numerical clusters are subsequently </a:t>
            </a:r>
            <a:r>
              <a:rPr lang="en-IN" dirty="0" err="1"/>
              <a:t>analyzed</a:t>
            </a:r>
            <a:r>
              <a:rPr lang="en-IN" dirty="0"/>
              <a:t> and profiled to understand the characteristics of each customer group. These clusters can then be interpreted from a business perspective and transformed into meaningful customer segments.</a:t>
            </a:r>
          </a:p>
          <a:p>
            <a:pPr>
              <a:buNone/>
            </a:pPr>
            <a:r>
              <a:rPr lang="en-IN" dirty="0"/>
              <a:t>Overall, K-Means Clustering provides a systematic approach for organizing customers into groups based on </a:t>
            </a:r>
            <a:r>
              <a:rPr lang="en-IN" dirty="0" err="1"/>
              <a:t>behavioral</a:t>
            </a:r>
            <a:r>
              <a:rPr lang="en-IN" dirty="0"/>
              <a:t> and financial similarities, supporting customer analysis and helping businesses develop more targeted, personalized, and data-driven marketing and customer engagement strategies.</a:t>
            </a:r>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16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Optimal Cluster Selection</a:t>
            </a:r>
          </a:p>
        </p:txBody>
      </p:sp>
      <p:sp>
        <p:nvSpPr>
          <p:cNvPr id="4" name="TextBox 3"/>
          <p:cNvSpPr txBox="1"/>
          <p:nvPr/>
        </p:nvSpPr>
        <p:spPr>
          <a:xfrm>
            <a:off x="731520" y="1051560"/>
            <a:ext cx="10744200" cy="4247317"/>
          </a:xfrm>
          <a:prstGeom prst="rect">
            <a:avLst/>
          </a:prstGeom>
          <a:noFill/>
        </p:spPr>
        <p:txBody>
          <a:bodyPr wrap="square">
            <a:spAutoFit/>
          </a:bodyPr>
          <a:lstStyle/>
          <a:p>
            <a:pPr>
              <a:buNone/>
            </a:pPr>
            <a:r>
              <a:rPr lang="en-IN" dirty="0"/>
              <a:t>Determining an appropriate number of clusters is an important step in K-Means Clustering because the selected value of </a:t>
            </a:r>
            <a:r>
              <a:rPr lang="en-IN" b="1" dirty="0"/>
              <a:t>K</a:t>
            </a:r>
            <a:r>
              <a:rPr lang="en-IN" dirty="0"/>
              <a:t> directly affects how customers are grouped and interpreted. Selecting too few clusters may combine customers with different characteristics, while selecting too many clusters may create unnecessarily complex groups that are difficult to interpret.</a:t>
            </a:r>
          </a:p>
          <a:p>
            <a:pPr>
              <a:buNone/>
            </a:pPr>
            <a:r>
              <a:rPr lang="en-IN" dirty="0"/>
              <a:t>This project evaluates different values of </a:t>
            </a:r>
            <a:r>
              <a:rPr lang="en-IN" b="1" dirty="0"/>
              <a:t>K</a:t>
            </a:r>
            <a:r>
              <a:rPr lang="en-IN" dirty="0"/>
              <a:t> using the </a:t>
            </a:r>
            <a:r>
              <a:rPr lang="en-IN" b="1" dirty="0"/>
              <a:t>Elbow Method</a:t>
            </a:r>
            <a:r>
              <a:rPr lang="en-IN" dirty="0"/>
              <a:t> and the </a:t>
            </a:r>
            <a:r>
              <a:rPr lang="en-IN" b="1" dirty="0"/>
              <a:t>Silhouette Score</a:t>
            </a:r>
            <a:r>
              <a:rPr lang="en-IN" dirty="0"/>
              <a:t>. The Elbow Method evaluates the </a:t>
            </a:r>
            <a:r>
              <a:rPr lang="en-IN" b="1" dirty="0"/>
              <a:t>Within-Cluster Sum of Squares (WCSS)</a:t>
            </a:r>
            <a:r>
              <a:rPr lang="en-IN" dirty="0"/>
              <a:t> and helps identify the point at which increasing the number of clusters produces progressively smaller improvements in cluster compactness.</a:t>
            </a:r>
          </a:p>
          <a:p>
            <a:pPr>
              <a:buNone/>
            </a:pPr>
            <a:r>
              <a:rPr lang="en-IN" dirty="0"/>
              <a:t>The Silhouette Score provides an additional evaluation by measuring the cohesion of customers within the same cluster and the separation between different clusters. A suitable clustering solution should demonstrate meaningful similarity within individual clusters while maintaining clear differences between separate customer groups.</a:t>
            </a:r>
          </a:p>
          <a:p>
            <a:pPr>
              <a:buNone/>
            </a:pPr>
            <a:r>
              <a:rPr lang="en-IN" dirty="0"/>
              <a:t>Both methods are considered together to evaluate the clustering solution more effectively. This combined approach supports the selection of a suitable number of customer segments and helps ensure that the final clusters are both analytically meaningful and practically interpretable from a business perspective.</a:t>
            </a:r>
          </a:p>
          <a:p>
            <a:pPr algn="l">
              <a:spcAft>
                <a:spcPts val="1200"/>
              </a:spcAft>
              <a:defRPr sz="1800">
                <a:latin typeface="Aptos"/>
              </a:defRPr>
            </a:pPr>
            <a:endParaRPr dirty="0"/>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17</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Elbow Method</a:t>
            </a:r>
          </a:p>
        </p:txBody>
      </p:sp>
      <p:sp>
        <p:nvSpPr>
          <p:cNvPr id="4" name="TextBox 3"/>
          <p:cNvSpPr txBox="1"/>
          <p:nvPr/>
        </p:nvSpPr>
        <p:spPr>
          <a:xfrm>
            <a:off x="731520" y="1051560"/>
            <a:ext cx="10744200" cy="3970318"/>
          </a:xfrm>
          <a:prstGeom prst="rect">
            <a:avLst/>
          </a:prstGeom>
          <a:noFill/>
        </p:spPr>
        <p:txBody>
          <a:bodyPr wrap="square">
            <a:spAutoFit/>
          </a:bodyPr>
          <a:lstStyle/>
          <a:p>
            <a:pPr>
              <a:buNone/>
            </a:pPr>
            <a:r>
              <a:rPr lang="en-IN" dirty="0"/>
              <a:t>The </a:t>
            </a:r>
            <a:r>
              <a:rPr lang="en-IN" b="1" dirty="0"/>
              <a:t>Elbow Method</a:t>
            </a:r>
            <a:r>
              <a:rPr lang="en-IN" dirty="0"/>
              <a:t> is used to evaluate the </a:t>
            </a:r>
            <a:r>
              <a:rPr lang="en-IN" b="1" dirty="0"/>
              <a:t>Within-Cluster Sum of Squares (WCSS)</a:t>
            </a:r>
            <a:r>
              <a:rPr lang="en-IN" dirty="0"/>
              <a:t> and support the selection of an appropriate number of clusters for the K-Means model. WCSS measures the overall variation of customer data points within their assigned clusters.</a:t>
            </a:r>
          </a:p>
          <a:p>
            <a:pPr>
              <a:buNone/>
            </a:pPr>
            <a:r>
              <a:rPr lang="en-IN" dirty="0"/>
              <a:t>As the number of clusters increases, WCSS generally decreases because customers are divided into increasingly smaller and more compact groups. However, continuously increasing the number of clusters does not always provide a meaningful improvement in the segmentation results.</a:t>
            </a:r>
          </a:p>
          <a:p>
            <a:pPr>
              <a:buNone/>
            </a:pPr>
            <a:r>
              <a:rPr lang="en-IN" dirty="0"/>
              <a:t>The objective is to identify the point at which the reduction in WCSS begins to slow significantly, creating a visible bend or </a:t>
            </a:r>
            <a:r>
              <a:rPr lang="en-IN" b="1" dirty="0"/>
              <a:t>“elbow”</a:t>
            </a:r>
            <a:r>
              <a:rPr lang="en-IN" dirty="0"/>
              <a:t> in the graph. This point provides a visual basis for evaluating a suitable number of customer clusters.</a:t>
            </a:r>
          </a:p>
          <a:p>
            <a:pPr>
              <a:buNone/>
            </a:pPr>
            <a:r>
              <a:rPr lang="en-IN" dirty="0"/>
              <a:t>The Elbow Method is considered together with the Silhouette Score to support a more reliable assessment of the clustering solution. The final selection of clusters is therefore based not only on the visual reduction in WCSS but also on the quality and interpretability of the resulting customer segments.</a:t>
            </a:r>
          </a:p>
          <a:p>
            <a:pPr>
              <a:buNone/>
            </a:pPr>
            <a:r>
              <a:rPr lang="en-IN" b="1" dirty="0"/>
              <a:t>Insert the Elbow Method visualization from the project on this slide to visually demonstrate the cluster evaluation process.</a:t>
            </a:r>
            <a:endParaRPr lang="en-IN" dirty="0"/>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18</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Silhouette Score</a:t>
            </a:r>
          </a:p>
        </p:txBody>
      </p:sp>
      <p:sp>
        <p:nvSpPr>
          <p:cNvPr id="4" name="TextBox 3"/>
          <p:cNvSpPr txBox="1"/>
          <p:nvPr/>
        </p:nvSpPr>
        <p:spPr>
          <a:xfrm>
            <a:off x="731520" y="1051560"/>
            <a:ext cx="10744200" cy="4247317"/>
          </a:xfrm>
          <a:prstGeom prst="rect">
            <a:avLst/>
          </a:prstGeom>
          <a:noFill/>
        </p:spPr>
        <p:txBody>
          <a:bodyPr wrap="square">
            <a:spAutoFit/>
          </a:bodyPr>
          <a:lstStyle/>
          <a:p>
            <a:pPr>
              <a:buNone/>
            </a:pPr>
            <a:r>
              <a:rPr lang="en-IN" dirty="0"/>
              <a:t>The </a:t>
            </a:r>
            <a:r>
              <a:rPr lang="en-IN" b="1" dirty="0"/>
              <a:t>Silhouette Score</a:t>
            </a:r>
            <a:r>
              <a:rPr lang="en-IN" dirty="0"/>
              <a:t> is used to evaluate the quality of the clustering solution by measuring how closely customers belong to their assigned cluster compared with customers in other clusters. It provides an important assessment of both the cohesion and separation of the identified customer groups.</a:t>
            </a:r>
          </a:p>
          <a:p>
            <a:pPr>
              <a:buNone/>
            </a:pPr>
            <a:r>
              <a:rPr lang="en-IN" dirty="0"/>
              <a:t>A stronger clustering solution demonstrates good </a:t>
            </a:r>
            <a:r>
              <a:rPr lang="en-IN" b="1" dirty="0"/>
              <a:t>cohesion</a:t>
            </a:r>
            <a:r>
              <a:rPr lang="en-IN" dirty="0"/>
              <a:t>, meaning that customers within the same cluster have relatively similar characteristics. It should also demonstrate good </a:t>
            </a:r>
            <a:r>
              <a:rPr lang="en-IN" b="1" dirty="0"/>
              <a:t>separation</a:t>
            </a:r>
            <a:r>
              <a:rPr lang="en-IN" dirty="0"/>
              <a:t>, meaning that customers belonging to different clusters have distinct income and spending patterns.</a:t>
            </a:r>
          </a:p>
          <a:p>
            <a:pPr>
              <a:buNone/>
            </a:pPr>
            <a:r>
              <a:rPr lang="en-IN" dirty="0"/>
              <a:t>The Silhouette Score is calculated for different values of </a:t>
            </a:r>
            <a:r>
              <a:rPr lang="en-IN" b="1" dirty="0"/>
              <a:t>K</a:t>
            </a:r>
            <a:r>
              <a:rPr lang="en-IN" dirty="0"/>
              <a:t> to compare alternative clustering solutions. Higher Silhouette Score values generally indicate that customers are appropriately grouped within their respective clusters while remaining sufficiently separated from other clusters.</a:t>
            </a:r>
          </a:p>
          <a:p>
            <a:pPr>
              <a:buNone/>
            </a:pPr>
            <a:r>
              <a:rPr lang="en-IN" dirty="0"/>
              <a:t>The Silhouette Score is considered together with the </a:t>
            </a:r>
            <a:r>
              <a:rPr lang="en-IN" b="1" dirty="0"/>
              <a:t>Elbow Method</a:t>
            </a:r>
            <a:r>
              <a:rPr lang="en-IN" dirty="0"/>
              <a:t> to support the final clustering decision. While the Elbow Method evaluates the reduction in Within-Cluster Sum of Squares, the Silhouette Score provides additional evidence regarding the quality and separation of the resulting customer segments.</a:t>
            </a:r>
          </a:p>
          <a:p>
            <a:pPr>
              <a:buNone/>
            </a:pPr>
            <a:r>
              <a:rPr lang="en-IN" b="1" dirty="0"/>
              <a:t>Insert the Silhouette Score visualization from the project on this slide to demonstrate the evaluation of clustering quality across different numbers of clusters.</a:t>
            </a:r>
            <a:endParaRPr lang="en-IN" dirty="0"/>
          </a:p>
          <a:p>
            <a:pPr algn="l">
              <a:spcAft>
                <a:spcPts val="1200"/>
              </a:spcAft>
              <a:defRPr sz="1800">
                <a:latin typeface="Aptos"/>
              </a:defRPr>
            </a:pPr>
            <a:endParaRPr dirty="0"/>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19</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K-Means Model Development</a:t>
            </a:r>
          </a:p>
        </p:txBody>
      </p:sp>
      <p:sp>
        <p:nvSpPr>
          <p:cNvPr id="4" name="TextBox 3"/>
          <p:cNvSpPr txBox="1"/>
          <p:nvPr/>
        </p:nvSpPr>
        <p:spPr>
          <a:xfrm>
            <a:off x="731520" y="1051560"/>
            <a:ext cx="10744200" cy="3693319"/>
          </a:xfrm>
          <a:prstGeom prst="rect">
            <a:avLst/>
          </a:prstGeom>
          <a:noFill/>
        </p:spPr>
        <p:txBody>
          <a:bodyPr wrap="square">
            <a:spAutoFit/>
          </a:bodyPr>
          <a:lstStyle/>
          <a:p>
            <a:pPr>
              <a:buNone/>
            </a:pPr>
            <a:r>
              <a:rPr lang="en-IN" dirty="0"/>
              <a:t>After evaluating different cluster values, the final </a:t>
            </a:r>
            <a:r>
              <a:rPr lang="en-IN" b="1" dirty="0"/>
              <a:t>K-Means Clustering model</a:t>
            </a:r>
            <a:r>
              <a:rPr lang="en-IN" dirty="0"/>
              <a:t> is developed using the selected number of clusters. The model is trained using the standardized </a:t>
            </a:r>
            <a:r>
              <a:rPr lang="en-IN" b="1" dirty="0"/>
              <a:t>Annual Income</a:t>
            </a:r>
            <a:r>
              <a:rPr lang="en-IN" dirty="0"/>
              <a:t> and </a:t>
            </a:r>
            <a:r>
              <a:rPr lang="en-IN" b="1" dirty="0"/>
              <a:t>Spending Score</a:t>
            </a:r>
            <a:r>
              <a:rPr lang="en-IN" dirty="0"/>
              <a:t> features to ensure that both variables contribute appropriately to the distance-based clustering process.</a:t>
            </a:r>
          </a:p>
          <a:p>
            <a:pPr>
              <a:buNone/>
            </a:pPr>
            <a:r>
              <a:rPr lang="en-IN" dirty="0"/>
              <a:t>Once the model is applied, each customer receives a numerical cluster assignment based on similarities in income and spending </a:t>
            </a:r>
            <a:r>
              <a:rPr lang="en-IN" dirty="0" err="1"/>
              <a:t>behavior</a:t>
            </a:r>
            <a:r>
              <a:rPr lang="en-IN" dirty="0"/>
              <a:t>. These cluster assignments are then added to the original customer dataset, enabling each individual customer record to be associated with a specific identified group.</a:t>
            </a:r>
          </a:p>
          <a:p>
            <a:pPr>
              <a:buNone/>
            </a:pPr>
            <a:r>
              <a:rPr lang="en-IN" dirty="0"/>
              <a:t>The resulting clusters are subsequently used for further analysis, visualization, and business interpretation. Customers within the same cluster generally demonstrate similar financial capacity and spending characteristics, while customers assigned to different clusters represent comparatively distinct patterns.</a:t>
            </a:r>
          </a:p>
          <a:p>
            <a:pPr>
              <a:buNone/>
            </a:pPr>
            <a:r>
              <a:rPr lang="en-IN" dirty="0"/>
              <a:t>The model therefore transforms individual customer records into meaningful groups based on </a:t>
            </a:r>
            <a:r>
              <a:rPr lang="en-IN" dirty="0" err="1"/>
              <a:t>behavioral</a:t>
            </a:r>
            <a:r>
              <a:rPr lang="en-IN" dirty="0"/>
              <a:t> and financial similarity. These technical cluster assignments provide the foundation for cluster profiling and the subsequent interpretation of numerical clusters as business-oriented customer segments that can support targeted and data-driven marketing strategies.</a:t>
            </a:r>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20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Customer Cluster Visualization</a:t>
            </a:r>
          </a:p>
        </p:txBody>
      </p:sp>
      <p:sp>
        <p:nvSpPr>
          <p:cNvPr id="4" name="TextBox 3"/>
          <p:cNvSpPr txBox="1"/>
          <p:nvPr/>
        </p:nvSpPr>
        <p:spPr>
          <a:xfrm>
            <a:off x="731520" y="1051560"/>
            <a:ext cx="10744200" cy="4524315"/>
          </a:xfrm>
          <a:prstGeom prst="rect">
            <a:avLst/>
          </a:prstGeom>
          <a:noFill/>
        </p:spPr>
        <p:txBody>
          <a:bodyPr wrap="square">
            <a:spAutoFit/>
          </a:bodyPr>
          <a:lstStyle/>
          <a:p>
            <a:pPr>
              <a:buNone/>
            </a:pPr>
            <a:r>
              <a:rPr lang="en-IN" dirty="0"/>
              <a:t>The final clustering results are visualized using </a:t>
            </a:r>
            <a:r>
              <a:rPr lang="en-IN" b="1" dirty="0"/>
              <a:t>Annual Income</a:t>
            </a:r>
            <a:r>
              <a:rPr lang="en-IN" dirty="0"/>
              <a:t> and </a:t>
            </a:r>
            <a:r>
              <a:rPr lang="en-IN" b="1" dirty="0"/>
              <a:t>Spending Score</a:t>
            </a:r>
            <a:r>
              <a:rPr lang="en-IN" dirty="0"/>
              <a:t>, which are the two primary features used in the K-Means model. Each customer is represented as an individual data point and grouped according to the cluster assigned by the algorithm.</a:t>
            </a:r>
          </a:p>
          <a:p>
            <a:pPr>
              <a:buNone/>
            </a:pPr>
            <a:r>
              <a:rPr lang="en-IN" dirty="0"/>
              <a:t>The visualization provides a clear graphical representation of how customers are distributed across different income and spending categories. Customers positioned close to one another generally demonstrate similar characteristics, while customers located in different regions of the visualization represent comparatively different financial and spending patterns.</a:t>
            </a:r>
          </a:p>
          <a:p>
            <a:pPr>
              <a:buNone/>
            </a:pPr>
            <a:r>
              <a:rPr lang="en-IN" b="1" dirty="0"/>
              <a:t>Cluster centroids</a:t>
            </a:r>
            <a:r>
              <a:rPr lang="en-IN" dirty="0"/>
              <a:t> can also be displayed to represent the central characteristics of each identified customer group. These centroids help demonstrate the approximate </a:t>
            </a:r>
            <a:r>
              <a:rPr lang="en-IN" dirty="0" err="1"/>
              <a:t>center</a:t>
            </a:r>
            <a:r>
              <a:rPr lang="en-IN" dirty="0"/>
              <a:t> of each cluster and provide a clearer understanding of how the K-Means algorithm organizes customers into separate groups.</a:t>
            </a:r>
          </a:p>
          <a:p>
            <a:pPr>
              <a:buNone/>
            </a:pPr>
            <a:r>
              <a:rPr lang="en-IN" dirty="0"/>
              <a:t>The final visualization makes the clustering results easier to interpret by presenting the identified customer segments in a simple and meaningful graphical format. It also supports cluster profiling and business interpretation by helping identify differences between customer groups.</a:t>
            </a:r>
          </a:p>
          <a:p>
            <a:pPr>
              <a:buNone/>
            </a:pPr>
            <a:r>
              <a:rPr lang="en-IN" b="1" dirty="0"/>
              <a:t>Insert the Customer Segmentation visualization from the project on this slide to clearly demonstrate the final clustering results and cluster centroids.</a:t>
            </a:r>
            <a:endParaRPr lang="en-IN" dirty="0"/>
          </a:p>
          <a:p>
            <a:pPr algn="l">
              <a:spcAft>
                <a:spcPts val="1200"/>
              </a:spcAft>
              <a:defRPr sz="1800">
                <a:latin typeface="Aptos"/>
              </a:defRPr>
            </a:pPr>
            <a:endParaRPr dirty="0"/>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21</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Cluster Profiling</a:t>
            </a:r>
          </a:p>
        </p:txBody>
      </p:sp>
      <p:sp>
        <p:nvSpPr>
          <p:cNvPr id="4" name="TextBox 3"/>
          <p:cNvSpPr txBox="1"/>
          <p:nvPr/>
        </p:nvSpPr>
        <p:spPr>
          <a:xfrm>
            <a:off x="731520" y="1051560"/>
            <a:ext cx="10744200" cy="4247317"/>
          </a:xfrm>
          <a:prstGeom prst="rect">
            <a:avLst/>
          </a:prstGeom>
          <a:noFill/>
        </p:spPr>
        <p:txBody>
          <a:bodyPr wrap="square">
            <a:spAutoFit/>
          </a:bodyPr>
          <a:lstStyle/>
          <a:p>
            <a:pPr>
              <a:buNone/>
            </a:pPr>
            <a:r>
              <a:rPr lang="en-IN" dirty="0"/>
              <a:t>Cluster profiling is performed to develop a clear understanding of the characteristics of each identified customer group. After the K-Means model assigns customers to different clusters, each cluster is </a:t>
            </a:r>
            <a:r>
              <a:rPr lang="en-IN" dirty="0" err="1"/>
              <a:t>analyzed</a:t>
            </a:r>
            <a:r>
              <a:rPr lang="en-IN" dirty="0"/>
              <a:t> using important descriptive measures such as </a:t>
            </a:r>
            <a:r>
              <a:rPr lang="en-IN" b="1" dirty="0"/>
              <a:t>customer count, average age, average annual income, and average spending score</a:t>
            </a:r>
            <a:r>
              <a:rPr lang="en-IN" dirty="0"/>
              <a:t>.</a:t>
            </a:r>
          </a:p>
          <a:p>
            <a:pPr>
              <a:buNone/>
            </a:pPr>
            <a:r>
              <a:rPr lang="en-IN" dirty="0"/>
              <a:t>The customer count helps understand the size and distribution of each segment, while the average age provides demographic information about the customers within the group. Average annual income represents the overall financial capacity of customers in a particular cluster, and the average spending score helps identify their general spending </a:t>
            </a:r>
            <a:r>
              <a:rPr lang="en-IN" dirty="0" err="1"/>
              <a:t>behavior</a:t>
            </a:r>
            <a:r>
              <a:rPr lang="en-IN" dirty="0"/>
              <a:t>.</a:t>
            </a:r>
          </a:p>
          <a:p>
            <a:pPr>
              <a:buNone/>
            </a:pPr>
            <a:r>
              <a:rPr lang="en-IN" dirty="0"/>
              <a:t>By comparing these characteristics across different clusters, meaningful differences between customer groups can be identified. For example, some clusters may represent customers with higher income and higher spending </a:t>
            </a:r>
            <a:r>
              <a:rPr lang="en-IN" dirty="0" err="1"/>
              <a:t>behavior</a:t>
            </a:r>
            <a:r>
              <a:rPr lang="en-IN" dirty="0"/>
              <a:t>, while others may demonstrate different combinations of financial capacity and spending patterns.</a:t>
            </a:r>
          </a:p>
          <a:p>
            <a:pPr>
              <a:buNone/>
            </a:pPr>
            <a:r>
              <a:rPr lang="en-IN" dirty="0"/>
              <a:t>This process converts technical numerical cluster assignments into understandable customer characteristics and creates an important bridge between </a:t>
            </a:r>
            <a:r>
              <a:rPr lang="en-IN" b="1" dirty="0"/>
              <a:t>Machine Learning implementation and business decision-making</a:t>
            </a:r>
            <a:r>
              <a:rPr lang="en-IN" dirty="0"/>
              <a:t>. Cluster profiling therefore enables the final clustering results to be interpreted as meaningful customer segments that can support targeted marketing, personalized strategies, customer engagement, retention, and other data-driven business initiatives.</a:t>
            </a:r>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22</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Business-Oriented Customer Segmentation</a:t>
            </a:r>
          </a:p>
        </p:txBody>
      </p:sp>
      <p:sp>
        <p:nvSpPr>
          <p:cNvPr id="4" name="TextBox 3"/>
          <p:cNvSpPr txBox="1"/>
          <p:nvPr/>
        </p:nvSpPr>
        <p:spPr>
          <a:xfrm>
            <a:off x="731520" y="1051560"/>
            <a:ext cx="10744200" cy="3970318"/>
          </a:xfrm>
          <a:prstGeom prst="rect">
            <a:avLst/>
          </a:prstGeom>
          <a:noFill/>
        </p:spPr>
        <p:txBody>
          <a:bodyPr wrap="square">
            <a:spAutoFit/>
          </a:bodyPr>
          <a:lstStyle/>
          <a:p>
            <a:pPr>
              <a:buNone/>
            </a:pPr>
            <a:r>
              <a:rPr lang="en-IN" dirty="0"/>
              <a:t>The numerical clusters generated by the </a:t>
            </a:r>
            <a:r>
              <a:rPr lang="en-IN" b="1" dirty="0"/>
              <a:t>K-Means algorithm</a:t>
            </a:r>
            <a:r>
              <a:rPr lang="en-IN" dirty="0"/>
              <a:t> are interpreted based on the income and spending characteristics of the customers. This enables the clustering results to be understood from a meaningful business perspective rather than being represented only through numerical cluster labels such as Cluster 0, Cluster 1, or Cluster 2.</a:t>
            </a:r>
          </a:p>
          <a:p>
            <a:pPr>
              <a:buNone/>
            </a:pPr>
            <a:r>
              <a:rPr lang="en-IN" dirty="0"/>
              <a:t>The identified customer groups represent different combinations of </a:t>
            </a:r>
            <a:r>
              <a:rPr lang="en-IN" b="1" dirty="0"/>
              <a:t>Annual Income</a:t>
            </a:r>
            <a:r>
              <a:rPr lang="en-IN" dirty="0"/>
              <a:t> and </a:t>
            </a:r>
            <a:r>
              <a:rPr lang="en-IN" b="1" dirty="0"/>
              <a:t>Spending Score</a:t>
            </a:r>
            <a:r>
              <a:rPr lang="en-IN" dirty="0"/>
              <a:t>. These combinations can include </a:t>
            </a:r>
            <a:r>
              <a:rPr lang="en-IN" b="1" dirty="0"/>
              <a:t>high-income, high-spending customers</a:t>
            </a:r>
            <a:r>
              <a:rPr lang="en-IN" dirty="0"/>
              <a:t>, </a:t>
            </a:r>
            <a:r>
              <a:rPr lang="en-IN" b="1" dirty="0"/>
              <a:t>high-income, low-spending customers</a:t>
            </a:r>
            <a:r>
              <a:rPr lang="en-IN" dirty="0"/>
              <a:t>, </a:t>
            </a:r>
            <a:r>
              <a:rPr lang="en-IN" b="1" dirty="0"/>
              <a:t>low-income, high-spending customers</a:t>
            </a:r>
            <a:r>
              <a:rPr lang="en-IN" dirty="0"/>
              <a:t>, and </a:t>
            </a:r>
            <a:r>
              <a:rPr lang="en-IN" b="1" dirty="0"/>
              <a:t>low-income, low-spending customers</a:t>
            </a:r>
            <a:r>
              <a:rPr lang="en-IN" dirty="0"/>
              <a:t>.</a:t>
            </a:r>
          </a:p>
          <a:p>
            <a:pPr>
              <a:buNone/>
            </a:pPr>
            <a:r>
              <a:rPr lang="en-IN" dirty="0"/>
              <a:t>Each segment represents a distinct pattern of financial capacity and spending </a:t>
            </a:r>
            <a:r>
              <a:rPr lang="en-IN" dirty="0" err="1"/>
              <a:t>behavior</a:t>
            </a:r>
            <a:r>
              <a:rPr lang="en-IN" dirty="0"/>
              <a:t>. For example, high-income and high-spending customers may represent potentially high-value customer groups, while high-income and low-spending customers may provide opportunities for increased engagement and personalized offerings. Similarly, other segments can be </a:t>
            </a:r>
            <a:r>
              <a:rPr lang="en-IN" dirty="0" err="1"/>
              <a:t>analyzed</a:t>
            </a:r>
            <a:r>
              <a:rPr lang="en-IN" dirty="0"/>
              <a:t> according to their specific characteristics and potential business opportunities.</a:t>
            </a:r>
          </a:p>
          <a:p>
            <a:pPr>
              <a:buNone/>
            </a:pPr>
            <a:r>
              <a:rPr lang="en-IN" dirty="0"/>
              <a:t>This business interpretation transforms technical clustering results into understandable customer segments and provides a foundation for developing targeted marketing strategies, personalized promotions, customer engagement initiatives, retention approaches, cross-selling, upselling, and other data-driven business decisions.</a:t>
            </a:r>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23</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Business Insights</a:t>
            </a:r>
          </a:p>
        </p:txBody>
      </p:sp>
      <p:sp>
        <p:nvSpPr>
          <p:cNvPr id="4" name="TextBox 3"/>
          <p:cNvSpPr txBox="1"/>
          <p:nvPr/>
        </p:nvSpPr>
        <p:spPr>
          <a:xfrm>
            <a:off x="731520" y="1051560"/>
            <a:ext cx="10744200" cy="4524315"/>
          </a:xfrm>
          <a:prstGeom prst="rect">
            <a:avLst/>
          </a:prstGeom>
          <a:noFill/>
        </p:spPr>
        <p:txBody>
          <a:bodyPr wrap="square">
            <a:spAutoFit/>
          </a:bodyPr>
          <a:lstStyle/>
          <a:p>
            <a:pPr>
              <a:buNone/>
            </a:pPr>
            <a:r>
              <a:rPr lang="en-IN" dirty="0"/>
              <a:t>The identified customer segments provide meaningful insights into differences in </a:t>
            </a:r>
            <a:r>
              <a:rPr lang="en-IN" b="1" dirty="0"/>
              <a:t>financial capacity and spending </a:t>
            </a:r>
            <a:r>
              <a:rPr lang="en-IN" b="1" dirty="0" err="1"/>
              <a:t>behavior</a:t>
            </a:r>
            <a:r>
              <a:rPr lang="en-IN" dirty="0"/>
              <a:t> across the customer population. By understanding these differences, businesses can develop more relevant strategies for different customer groups instead of applying a single generalized approach.</a:t>
            </a:r>
          </a:p>
          <a:p>
            <a:pPr>
              <a:buNone/>
            </a:pPr>
            <a:r>
              <a:rPr lang="en-IN" b="1" dirty="0"/>
              <a:t>High-value customer groups</a:t>
            </a:r>
            <a:r>
              <a:rPr lang="en-IN" dirty="0"/>
              <a:t>, particularly customers with strong income and spending characteristics, may represent important opportunities for premium products, loyalty programs, personalized services, and long-term customer retention strategies. Maintaining engagement with these customers can help businesses strengthen valuable customer relationships.</a:t>
            </a:r>
          </a:p>
          <a:p>
            <a:pPr>
              <a:buNone/>
            </a:pPr>
            <a:r>
              <a:rPr lang="en-IN" b="1" dirty="0"/>
              <a:t>High-income customers with relatively lower spending </a:t>
            </a:r>
            <a:r>
              <a:rPr lang="en-IN" b="1" dirty="0" err="1"/>
              <a:t>behavior</a:t>
            </a:r>
            <a:r>
              <a:rPr lang="en-IN" dirty="0"/>
              <a:t> may represent opportunities for improved engagement through personalized offers, targeted recommendations, and marketing strategies designed to encourage greater participation and purchasing activity.</a:t>
            </a:r>
          </a:p>
          <a:p>
            <a:pPr>
              <a:buNone/>
            </a:pPr>
            <a:r>
              <a:rPr lang="en-IN" b="1" dirty="0"/>
              <a:t>High-spending customer groups</a:t>
            </a:r>
            <a:r>
              <a:rPr lang="en-IN" dirty="0"/>
              <a:t> may provide opportunities for cross-selling and upselling by recommending relevant complementary or premium products and services. On the other hand, </a:t>
            </a:r>
            <a:r>
              <a:rPr lang="en-IN" b="1" dirty="0"/>
              <a:t>lower-spending customer groups</a:t>
            </a:r>
            <a:r>
              <a:rPr lang="en-IN" dirty="0"/>
              <a:t> may benefit from targeted promotional campaigns, suitable discounts, and engagement strategies designed to increase customer interest and activity.</a:t>
            </a:r>
          </a:p>
          <a:p>
            <a:pPr>
              <a:buNone/>
            </a:pPr>
            <a:r>
              <a:rPr lang="en-IN" dirty="0"/>
              <a:t>Overall, the identified customer segments provide a practical foundation for developing more personalized, data-driven, and strategically targeted marketing and customer relationship management initiatives.</a:t>
            </a:r>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24</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Business Recommendations</a:t>
            </a:r>
          </a:p>
        </p:txBody>
      </p:sp>
      <p:sp>
        <p:nvSpPr>
          <p:cNvPr id="4" name="TextBox 3"/>
          <p:cNvSpPr txBox="1"/>
          <p:nvPr/>
        </p:nvSpPr>
        <p:spPr>
          <a:xfrm>
            <a:off x="731520" y="1051560"/>
            <a:ext cx="10744200" cy="4247317"/>
          </a:xfrm>
          <a:prstGeom prst="rect">
            <a:avLst/>
          </a:prstGeom>
          <a:noFill/>
        </p:spPr>
        <p:txBody>
          <a:bodyPr wrap="square">
            <a:spAutoFit/>
          </a:bodyPr>
          <a:lstStyle/>
          <a:p>
            <a:pPr marL="342900" lvl="0" indent="-342900">
              <a:buFont typeface="+mj-lt"/>
              <a:buAutoNum type="arabicPeriod"/>
            </a:pPr>
            <a:r>
              <a:rPr lang="en-IN" b="1" dirty="0"/>
              <a:t>High-value customers</a:t>
            </a:r>
            <a:r>
              <a:rPr lang="en-IN" dirty="0"/>
              <a:t> can be supported through premium offers, personalized marketing campaigns, loyalty rewards, and long-term retention strategies designed to strengthen customer relationships and maintain engagement. </a:t>
            </a:r>
          </a:p>
          <a:p>
            <a:pPr marL="342900" lvl="0" indent="-342900">
              <a:buFont typeface="+mj-lt"/>
              <a:buAutoNum type="arabicPeriod"/>
            </a:pPr>
            <a:r>
              <a:rPr lang="en-IN" b="1" dirty="0"/>
              <a:t>High-income customers with lower spending </a:t>
            </a:r>
            <a:r>
              <a:rPr lang="en-IN" b="1" dirty="0" err="1"/>
              <a:t>behavior</a:t>
            </a:r>
            <a:r>
              <a:rPr lang="en-IN" dirty="0"/>
              <a:t> can be targeted through suitable incentives, personalized recommendations, exclusive offers, and engagement strategies designed to encourage increased spending and greater participation. </a:t>
            </a:r>
          </a:p>
          <a:p>
            <a:pPr marL="342900" lvl="0" indent="-342900">
              <a:buFont typeface="+mj-lt"/>
              <a:buAutoNum type="arabicPeriod"/>
            </a:pPr>
            <a:r>
              <a:rPr lang="en-IN" b="1" dirty="0"/>
              <a:t>High-spending customers</a:t>
            </a:r>
            <a:r>
              <a:rPr lang="en-IN" dirty="0"/>
              <a:t> can receive relevant promotions, personalized product recommendations, and additional cross-selling and upselling opportunities based on their spending characteristics and potential purchasing interests. </a:t>
            </a:r>
          </a:p>
          <a:p>
            <a:pPr marL="342900" lvl="0" indent="-342900">
              <a:buFont typeface="+mj-lt"/>
              <a:buAutoNum type="arabicPeriod"/>
            </a:pPr>
            <a:r>
              <a:rPr lang="en-IN" b="1" dirty="0"/>
              <a:t>Lower-spending customer groups</a:t>
            </a:r>
            <a:r>
              <a:rPr lang="en-IN" dirty="0"/>
              <a:t> can be supported through affordable offers, introductory promotions, targeted discounts, and customer engagement strategies designed to increase interest, participation, and overall spending activity. </a:t>
            </a:r>
          </a:p>
          <a:p>
            <a:pPr>
              <a:buNone/>
            </a:pPr>
            <a:r>
              <a:rPr lang="en-IN" dirty="0"/>
              <a:t>These recommendations demonstrate how customer segmentation can help organizations move from generalized marketing approaches toward more personalized, data-driven, and strategically targeted customer management.</a:t>
            </a:r>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25</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Model Evaluation</a:t>
            </a:r>
          </a:p>
        </p:txBody>
      </p:sp>
      <p:sp>
        <p:nvSpPr>
          <p:cNvPr id="4" name="TextBox 3"/>
          <p:cNvSpPr txBox="1"/>
          <p:nvPr/>
        </p:nvSpPr>
        <p:spPr>
          <a:xfrm>
            <a:off x="731520" y="1051560"/>
            <a:ext cx="10744200" cy="4247317"/>
          </a:xfrm>
          <a:prstGeom prst="rect">
            <a:avLst/>
          </a:prstGeom>
          <a:noFill/>
        </p:spPr>
        <p:txBody>
          <a:bodyPr wrap="square">
            <a:spAutoFit/>
          </a:bodyPr>
          <a:lstStyle/>
          <a:p>
            <a:pPr>
              <a:buNone/>
            </a:pPr>
            <a:r>
              <a:rPr lang="en-IN" dirty="0"/>
              <a:t>Since this project uses </a:t>
            </a:r>
            <a:r>
              <a:rPr lang="en-IN" b="1" dirty="0"/>
              <a:t>Unsupervised Machine Learning</a:t>
            </a:r>
            <a:r>
              <a:rPr lang="en-IN" dirty="0"/>
              <a:t>, traditional supervised learning metrics such as </a:t>
            </a:r>
            <a:r>
              <a:rPr lang="en-IN" b="1" dirty="0"/>
              <a:t>accuracy, precision, recall, and F1-score</a:t>
            </a:r>
            <a:r>
              <a:rPr lang="en-IN" dirty="0"/>
              <a:t> are not the primary measures used to evaluate the model. Unlike supervised models, K-Means Clustering does not predict predefined target labels; instead, it identifies patterns and natural groupings within the customer data.</a:t>
            </a:r>
          </a:p>
          <a:p>
            <a:pPr>
              <a:buNone/>
            </a:pPr>
            <a:r>
              <a:rPr lang="en-IN" dirty="0"/>
              <a:t>The clustering solution is evaluated using multiple technical and analytical approaches. These include </a:t>
            </a:r>
            <a:r>
              <a:rPr lang="en-IN" b="1" dirty="0"/>
              <a:t>Within-Cluster Sum of Squares (WCSS)</a:t>
            </a:r>
            <a:r>
              <a:rPr lang="en-IN" dirty="0"/>
              <a:t>, the </a:t>
            </a:r>
            <a:r>
              <a:rPr lang="en-IN" b="1" dirty="0"/>
              <a:t>Elbow Method</a:t>
            </a:r>
            <a:r>
              <a:rPr lang="en-IN" dirty="0"/>
              <a:t>, and the </a:t>
            </a:r>
            <a:r>
              <a:rPr lang="en-IN" b="1" dirty="0"/>
              <a:t>Silhouette Score</a:t>
            </a:r>
            <a:r>
              <a:rPr lang="en-IN" dirty="0"/>
              <a:t> to assess cluster compactness, cohesion, and separation. </a:t>
            </a:r>
            <a:r>
              <a:rPr lang="en-IN" b="1" dirty="0"/>
              <a:t>Cluster-size analysis</a:t>
            </a:r>
            <a:r>
              <a:rPr lang="en-IN" dirty="0"/>
              <a:t> is also performed to understand the distribution of customers across the identified groups.</a:t>
            </a:r>
          </a:p>
          <a:p>
            <a:pPr>
              <a:buNone/>
            </a:pPr>
            <a:r>
              <a:rPr lang="en-IN" dirty="0"/>
              <a:t>The final results are further evaluated through </a:t>
            </a:r>
            <a:r>
              <a:rPr lang="en-IN" b="1" dirty="0"/>
              <a:t>cluster visualization</a:t>
            </a:r>
            <a:r>
              <a:rPr lang="en-IN" dirty="0"/>
              <a:t> and </a:t>
            </a:r>
            <a:r>
              <a:rPr lang="en-IN" b="1" dirty="0"/>
              <a:t>cluster profiling</a:t>
            </a:r>
            <a:r>
              <a:rPr lang="en-IN" dirty="0"/>
              <a:t>, which help determine whether the customer groups are clearly distinguishable and have meaningful characteristics. The numerical clustering results are then assessed through </a:t>
            </a:r>
            <a:r>
              <a:rPr lang="en-IN" b="1" dirty="0"/>
              <a:t>business interpretability</a:t>
            </a:r>
            <a:r>
              <a:rPr lang="en-IN" dirty="0"/>
              <a:t> to determine whether the identified segments can provide useful insights for marketing and customer management.</a:t>
            </a:r>
          </a:p>
          <a:p>
            <a:pPr>
              <a:buNone/>
            </a:pPr>
            <a:r>
              <a:rPr lang="en-IN" dirty="0"/>
              <a:t>Therefore, the final evaluation considers both </a:t>
            </a:r>
            <a:r>
              <a:rPr lang="en-IN" b="1" dirty="0"/>
              <a:t>technical clustering quality and meaningful business interpretation</a:t>
            </a:r>
            <a:r>
              <a:rPr lang="en-IN" dirty="0"/>
              <a:t>, ensuring that the identified customer segments are analytically reasonable and practically useful for data-driven decision-making.</a:t>
            </a:r>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26</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Results Export</a:t>
            </a:r>
          </a:p>
        </p:txBody>
      </p:sp>
      <p:sp>
        <p:nvSpPr>
          <p:cNvPr id="4" name="TextBox 3"/>
          <p:cNvSpPr txBox="1"/>
          <p:nvPr/>
        </p:nvSpPr>
        <p:spPr>
          <a:xfrm>
            <a:off x="731520" y="1051560"/>
            <a:ext cx="10744200" cy="3693319"/>
          </a:xfrm>
          <a:prstGeom prst="rect">
            <a:avLst/>
          </a:prstGeom>
          <a:noFill/>
        </p:spPr>
        <p:txBody>
          <a:bodyPr wrap="square">
            <a:spAutoFit/>
          </a:bodyPr>
          <a:lstStyle/>
          <a:p>
            <a:pPr>
              <a:buNone/>
            </a:pPr>
            <a:r>
              <a:rPr lang="en-IN" dirty="0"/>
              <a:t>The final customer segmentation results are exported as </a:t>
            </a:r>
            <a:r>
              <a:rPr lang="en-IN" b="1" dirty="0"/>
              <a:t>Customer_Segmentation_Results.csv</a:t>
            </a:r>
            <a:r>
              <a:rPr lang="en-IN" dirty="0"/>
              <a:t>. This exported dataset contains the original customer information together with the numerical cluster assignment generated by the K-Means model and the corresponding business-oriented customer segment.</a:t>
            </a:r>
          </a:p>
          <a:p>
            <a:pPr>
              <a:buNone/>
            </a:pPr>
            <a:r>
              <a:rPr lang="en-IN" dirty="0"/>
              <a:t>The inclusion of both technical and business-level results enables the dataset to be understood from multiple perspectives. The numerical cluster identifies the group assigned by the Machine Learning algorithm, while the business-oriented segment provides a more meaningful interpretation based on customer income and spending characteristics.</a:t>
            </a:r>
          </a:p>
          <a:p>
            <a:pPr>
              <a:buNone/>
            </a:pPr>
            <a:r>
              <a:rPr lang="en-IN" dirty="0"/>
              <a:t>This file represents the final analytical output of the complete Machine Learning workflow and preserves the results for further use beyond the original analysis. The exported data can support additional reporting, visualization, customer analysis, and business decision-making.</a:t>
            </a:r>
          </a:p>
          <a:p>
            <a:pPr>
              <a:buNone/>
            </a:pPr>
            <a:r>
              <a:rPr lang="en-IN" dirty="0"/>
              <a:t>Overall, </a:t>
            </a:r>
            <a:r>
              <a:rPr lang="en-IN" b="1" dirty="0"/>
              <a:t>Customer_Segmentation_Results.csv</a:t>
            </a:r>
            <a:r>
              <a:rPr lang="en-IN" dirty="0"/>
              <a:t> provides a structured and reusable output that connects the original customer data with the final clustering results, making it easier to communicate customer segments and use the analytical findings in future business and marketing activities.</a:t>
            </a:r>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27</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Streamlit Application</a:t>
            </a:r>
          </a:p>
        </p:txBody>
      </p:sp>
      <p:sp>
        <p:nvSpPr>
          <p:cNvPr id="4" name="TextBox 3"/>
          <p:cNvSpPr txBox="1"/>
          <p:nvPr/>
        </p:nvSpPr>
        <p:spPr>
          <a:xfrm>
            <a:off x="731520" y="1051560"/>
            <a:ext cx="10744200" cy="4247317"/>
          </a:xfrm>
          <a:prstGeom prst="rect">
            <a:avLst/>
          </a:prstGeom>
          <a:noFill/>
        </p:spPr>
        <p:txBody>
          <a:bodyPr wrap="square">
            <a:spAutoFit/>
          </a:bodyPr>
          <a:lstStyle/>
          <a:p>
            <a:pPr>
              <a:buNone/>
            </a:pPr>
            <a:r>
              <a:rPr lang="en-IN" dirty="0"/>
              <a:t>The project includes an interactive </a:t>
            </a:r>
            <a:r>
              <a:rPr lang="en-IN" b="1" dirty="0" err="1"/>
              <a:t>Streamlit</a:t>
            </a:r>
            <a:r>
              <a:rPr lang="en-IN" b="1" dirty="0"/>
              <a:t> application</a:t>
            </a:r>
            <a:r>
              <a:rPr lang="en-IN" dirty="0"/>
              <a:t> that transforms the customer segmentation analysis and Machine Learning workflow into a user-friendly and practical application. The application provides an accessible interface through which users can interact with the developed K-Means clustering model.</a:t>
            </a:r>
          </a:p>
          <a:p>
            <a:pPr>
              <a:buNone/>
            </a:pPr>
            <a:r>
              <a:rPr lang="en-IN" dirty="0"/>
              <a:t>Users can enter a customer's </a:t>
            </a:r>
            <a:r>
              <a:rPr lang="en-IN" b="1" dirty="0"/>
              <a:t>Annual Income</a:t>
            </a:r>
            <a:r>
              <a:rPr lang="en-IN" dirty="0"/>
              <a:t> and </a:t>
            </a:r>
            <a:r>
              <a:rPr lang="en-IN" b="1" dirty="0"/>
              <a:t>Spending Score</a:t>
            </a:r>
            <a:r>
              <a:rPr lang="en-IN" dirty="0"/>
              <a:t> information as input. Based on these characteristics, the application uses the trained K-Means model to determine the customer's assigned numerical cluster and display the corresponding </a:t>
            </a:r>
            <a:r>
              <a:rPr lang="en-IN" b="1" dirty="0"/>
              <a:t>business-oriented customer segment</a:t>
            </a:r>
            <a:r>
              <a:rPr lang="en-IN" dirty="0"/>
              <a:t>.</a:t>
            </a:r>
          </a:p>
          <a:p>
            <a:pPr>
              <a:buNone/>
            </a:pPr>
            <a:r>
              <a:rPr lang="en-IN" dirty="0"/>
              <a:t>In addition to customer segment prediction, the application provides visual representations of the segmentation results, including customer distribution across clusters and cluster centroids. Users can also explore the dataset, review segment summaries, and understand the characteristics of different customer groups.</a:t>
            </a:r>
          </a:p>
          <a:p>
            <a:pPr>
              <a:buNone/>
            </a:pPr>
            <a:r>
              <a:rPr lang="en-IN" dirty="0"/>
              <a:t>The application further presents business-oriented recommendations based on the identified customer segments, helping connect technical Machine Learning results with practical marketing and customer management strategies.</a:t>
            </a:r>
          </a:p>
          <a:p>
            <a:pPr>
              <a:buNone/>
            </a:pPr>
            <a:r>
              <a:rPr lang="en-IN" dirty="0"/>
              <a:t>Overall, the </a:t>
            </a:r>
            <a:r>
              <a:rPr lang="en-IN" dirty="0" err="1"/>
              <a:t>Streamlit</a:t>
            </a:r>
            <a:r>
              <a:rPr lang="en-IN" dirty="0"/>
              <a:t> deployment demonstrates the practical implementation of the complete project by transforming raw customer inputs and clustering analysis into an interactive application that supports customer understanding, segment identification, visualization, and data-driven business decision-making.</a:t>
            </a:r>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28</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Application Workflow</a:t>
            </a:r>
          </a:p>
        </p:txBody>
      </p:sp>
      <p:sp>
        <p:nvSpPr>
          <p:cNvPr id="4" name="TextBox 3"/>
          <p:cNvSpPr txBox="1"/>
          <p:nvPr/>
        </p:nvSpPr>
        <p:spPr>
          <a:xfrm>
            <a:off x="731520" y="1051560"/>
            <a:ext cx="10744200" cy="4524315"/>
          </a:xfrm>
          <a:prstGeom prst="rect">
            <a:avLst/>
          </a:prstGeom>
          <a:noFill/>
        </p:spPr>
        <p:txBody>
          <a:bodyPr wrap="square">
            <a:spAutoFit/>
          </a:bodyPr>
          <a:lstStyle/>
          <a:p>
            <a:pPr>
              <a:buNone/>
            </a:pPr>
            <a:r>
              <a:rPr lang="en-IN" dirty="0"/>
              <a:t>Customer information is entered through the interactive application interface, where users provide relevant values such as </a:t>
            </a:r>
            <a:r>
              <a:rPr lang="en-IN" b="1" dirty="0"/>
              <a:t>Annual Income</a:t>
            </a:r>
            <a:r>
              <a:rPr lang="en-IN" dirty="0"/>
              <a:t> and </a:t>
            </a:r>
            <a:r>
              <a:rPr lang="en-IN" b="1" dirty="0"/>
              <a:t>Spending Score</a:t>
            </a:r>
            <a:r>
              <a:rPr lang="en-IN" dirty="0"/>
              <a:t>. These input values are processed using the developed K-Means Clustering model, which identifies the customer group with the most similar income and spending characteristics.</a:t>
            </a:r>
          </a:p>
          <a:p>
            <a:pPr>
              <a:buNone/>
            </a:pPr>
            <a:r>
              <a:rPr lang="en-IN" dirty="0"/>
              <a:t>The predicted numerical cluster is then mapped to a meaningful </a:t>
            </a:r>
            <a:r>
              <a:rPr lang="en-IN" b="1" dirty="0"/>
              <a:t>business-oriented customer segment</a:t>
            </a:r>
            <a:r>
              <a:rPr lang="en-IN" dirty="0"/>
              <a:t>, making the Machine Learning output easier to understand from a practical perspective. The application displays the identified customer segment and provides additional visual and business-level insights to support the interpretation of the results.</a:t>
            </a:r>
          </a:p>
          <a:p>
            <a:pPr>
              <a:buNone/>
            </a:pPr>
            <a:r>
              <a:rPr lang="en-IN" dirty="0"/>
              <a:t>Users can further explore customer segmentation patterns through visualizations, including customer cluster distribution and cluster centroids. Segment summaries and business recommendations help connect the technical clustering results with potential marketing and customer engagement strategies.</a:t>
            </a:r>
          </a:p>
          <a:p>
            <a:pPr>
              <a:buNone/>
            </a:pPr>
            <a:r>
              <a:rPr lang="en-IN" dirty="0"/>
              <a:t>Overall, this process demonstrates the practical deployment of the complete Machine Learning workflow by transforming customer input data into an interactive and user-friendly analytical output. The </a:t>
            </a:r>
            <a:r>
              <a:rPr lang="en-IN" dirty="0" err="1"/>
              <a:t>Streamlit</a:t>
            </a:r>
            <a:r>
              <a:rPr lang="en-IN" dirty="0"/>
              <a:t> application bridges the gap between the developed K-Means model and practical business usage, demonstrating how customer segmentation can be applied through an accessible real-world application.</a:t>
            </a:r>
          </a:p>
          <a:p>
            <a:pPr algn="l">
              <a:spcAft>
                <a:spcPts val="1200"/>
              </a:spcAft>
              <a:defRPr sz="1800">
                <a:latin typeface="Aptos"/>
              </a:defRPr>
            </a:pPr>
            <a:endParaRPr dirty="0"/>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29</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Challenges Faced</a:t>
            </a:r>
          </a:p>
        </p:txBody>
      </p:sp>
      <p:sp>
        <p:nvSpPr>
          <p:cNvPr id="4" name="TextBox 3"/>
          <p:cNvSpPr txBox="1"/>
          <p:nvPr/>
        </p:nvSpPr>
        <p:spPr>
          <a:xfrm>
            <a:off x="731520" y="1051560"/>
            <a:ext cx="10744200" cy="3970318"/>
          </a:xfrm>
          <a:prstGeom prst="rect">
            <a:avLst/>
          </a:prstGeom>
          <a:noFill/>
        </p:spPr>
        <p:txBody>
          <a:bodyPr wrap="square">
            <a:spAutoFit/>
          </a:bodyPr>
          <a:lstStyle/>
          <a:p>
            <a:pPr>
              <a:buNone/>
            </a:pPr>
            <a:r>
              <a:rPr lang="en-IN" dirty="0"/>
              <a:t>The project involved several important challenges throughout the customer segmentation process. One of the primary challenges was selecting meaningful clustering features that could effectively represent differences in customer characteristics and </a:t>
            </a:r>
            <a:r>
              <a:rPr lang="en-IN" dirty="0" err="1"/>
              <a:t>behavior</a:t>
            </a:r>
            <a:r>
              <a:rPr lang="en-IN" dirty="0"/>
              <a:t>. The selection of appropriate variables was essential because the chosen features directly influenced the quality and interpretability of the clustering results.</a:t>
            </a:r>
          </a:p>
          <a:p>
            <a:pPr>
              <a:buNone/>
            </a:pPr>
            <a:r>
              <a:rPr lang="en-IN" dirty="0"/>
              <a:t>Another important challenge was determining an appropriate number of clusters. Different values of </a:t>
            </a:r>
            <a:r>
              <a:rPr lang="en-IN" b="1" dirty="0"/>
              <a:t>K</a:t>
            </a:r>
            <a:r>
              <a:rPr lang="en-IN" dirty="0"/>
              <a:t> were evaluated using the </a:t>
            </a:r>
            <a:r>
              <a:rPr lang="en-IN" b="1" dirty="0"/>
              <a:t>Elbow Method</a:t>
            </a:r>
            <a:r>
              <a:rPr lang="en-IN" dirty="0"/>
              <a:t> and </a:t>
            </a:r>
            <a:r>
              <a:rPr lang="en-IN" b="1" dirty="0"/>
              <a:t>Silhouette Score</a:t>
            </a:r>
            <a:r>
              <a:rPr lang="en-IN" dirty="0"/>
              <a:t> to support the selection of a suitable clustering solution. The results also required careful interpretation because K-Means generates numerical cluster labels that do not automatically represent meaningful business categories.</a:t>
            </a:r>
          </a:p>
          <a:p>
            <a:pPr>
              <a:buNone/>
            </a:pPr>
            <a:r>
              <a:rPr lang="en-IN" dirty="0"/>
              <a:t>Feature scaling was therefore an important part of the implementation to ensure balanced distance calculations between selected variables. Cluster evaluation, visualization, and profiling were subsequently used to understand the characteristics of the identified customer groups.</a:t>
            </a:r>
          </a:p>
          <a:p>
            <a:pPr>
              <a:buNone/>
            </a:pPr>
            <a:r>
              <a:rPr lang="en-IN" dirty="0"/>
              <a:t>Finally, translating technical clustering results into meaningful business segments and deploying the workflow through an interactive </a:t>
            </a:r>
            <a:r>
              <a:rPr lang="en-IN" dirty="0" err="1"/>
              <a:t>Streamlit</a:t>
            </a:r>
            <a:r>
              <a:rPr lang="en-IN" dirty="0"/>
              <a:t> application were important parts of the implementation process. These steps helped transform the Machine Learning model into a practical and understandable business analytics solution.</a:t>
            </a:r>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30</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Project Limitations</a:t>
            </a:r>
          </a:p>
        </p:txBody>
      </p:sp>
      <p:sp>
        <p:nvSpPr>
          <p:cNvPr id="4" name="TextBox 3"/>
          <p:cNvSpPr txBox="1"/>
          <p:nvPr/>
        </p:nvSpPr>
        <p:spPr>
          <a:xfrm>
            <a:off x="731520" y="1051560"/>
            <a:ext cx="10744200" cy="3970318"/>
          </a:xfrm>
          <a:prstGeom prst="rect">
            <a:avLst/>
          </a:prstGeom>
          <a:noFill/>
        </p:spPr>
        <p:txBody>
          <a:bodyPr wrap="square">
            <a:spAutoFit/>
          </a:bodyPr>
          <a:lstStyle/>
          <a:p>
            <a:pPr>
              <a:buNone/>
            </a:pPr>
            <a:r>
              <a:rPr lang="en-IN" dirty="0"/>
              <a:t>The project uses a relatively small dataset containing </a:t>
            </a:r>
            <a:r>
              <a:rPr lang="en-IN" b="1" dirty="0"/>
              <a:t>200 customer records</a:t>
            </a:r>
            <a:r>
              <a:rPr lang="en-IN" dirty="0"/>
              <a:t>. The available data contains limited customer information and primarily focuses on demographic characteristics, Annual Income, and Spending Score. While the dataset is suitable for demonstrating the complete customer segmentation workflow, it may not represent the full complexity and diversity of customer </a:t>
            </a:r>
            <a:r>
              <a:rPr lang="en-IN" dirty="0" err="1"/>
              <a:t>behavior</a:t>
            </a:r>
            <a:r>
              <a:rPr lang="en-IN" dirty="0"/>
              <a:t> found in real-world business environments.</a:t>
            </a:r>
          </a:p>
          <a:p>
            <a:pPr>
              <a:buNone/>
            </a:pPr>
            <a:r>
              <a:rPr lang="en-IN" dirty="0"/>
              <a:t>The current segmentation analysis primarily focuses on customer financial capacity and spending </a:t>
            </a:r>
            <a:r>
              <a:rPr lang="en-IN" dirty="0" err="1"/>
              <a:t>behavior</a:t>
            </a:r>
            <a:r>
              <a:rPr lang="en-IN" dirty="0"/>
              <a:t>. As a result, the identified customer segments are based on a limited set of characteristics and should be interpreted within the scope of the available dataset.</a:t>
            </a:r>
          </a:p>
          <a:p>
            <a:pPr>
              <a:buNone/>
            </a:pPr>
            <a:r>
              <a:rPr lang="en-IN" dirty="0"/>
              <a:t>A real-world customer segmentation system could incorporate additional information such as </a:t>
            </a:r>
            <a:r>
              <a:rPr lang="en-IN" b="1" dirty="0"/>
              <a:t>transaction history, purchasing frequency, product preferences, geographical information, customer lifetime value, and customer engagement </a:t>
            </a:r>
            <a:r>
              <a:rPr lang="en-IN" b="1" dirty="0" err="1"/>
              <a:t>behavior</a:t>
            </a:r>
            <a:r>
              <a:rPr lang="en-IN" dirty="0"/>
              <a:t>. These additional features could provide a more comprehensive understanding of customer </a:t>
            </a:r>
            <a:r>
              <a:rPr lang="en-IN" dirty="0" err="1"/>
              <a:t>behavior</a:t>
            </a:r>
            <a:r>
              <a:rPr lang="en-IN" dirty="0"/>
              <a:t> and enable the identification of more detailed and business-specific customer segments.</a:t>
            </a:r>
          </a:p>
          <a:p>
            <a:pPr>
              <a:buNone/>
            </a:pPr>
            <a:r>
              <a:rPr lang="en-IN" dirty="0"/>
              <a:t>Future improvements could also involve larger and more diverse datasets, additional </a:t>
            </a:r>
            <a:r>
              <a:rPr lang="en-IN" dirty="0" err="1"/>
              <a:t>behavioral</a:t>
            </a:r>
            <a:r>
              <a:rPr lang="en-IN" dirty="0"/>
              <a:t> features, and more advanced clustering approaches. These enhancements could improve the depth, accuracy, and practical value of customer segmentation for real-world business decision-making.</a:t>
            </a:r>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31</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Future Scope</a:t>
            </a:r>
          </a:p>
        </p:txBody>
      </p:sp>
      <p:sp>
        <p:nvSpPr>
          <p:cNvPr id="4" name="TextBox 3"/>
          <p:cNvSpPr txBox="1"/>
          <p:nvPr/>
        </p:nvSpPr>
        <p:spPr>
          <a:xfrm>
            <a:off x="731520" y="1051560"/>
            <a:ext cx="10744200" cy="4524315"/>
          </a:xfrm>
          <a:prstGeom prst="rect">
            <a:avLst/>
          </a:prstGeom>
          <a:noFill/>
        </p:spPr>
        <p:txBody>
          <a:bodyPr wrap="square">
            <a:spAutoFit/>
          </a:bodyPr>
          <a:lstStyle/>
          <a:p>
            <a:pPr>
              <a:buNone/>
            </a:pPr>
            <a:r>
              <a:rPr lang="en-IN" b="1" dirty="0"/>
              <a:t>Future Enhancements</a:t>
            </a:r>
          </a:p>
          <a:p>
            <a:pPr marL="342900" lvl="0" indent="-342900">
              <a:buFont typeface="+mj-lt"/>
              <a:buAutoNum type="arabicPeriod"/>
            </a:pPr>
            <a:r>
              <a:rPr lang="en-IN" b="1" dirty="0"/>
              <a:t>Larger and more diverse customer datasets</a:t>
            </a:r>
            <a:r>
              <a:rPr lang="en-IN" dirty="0"/>
              <a:t> can be incorporated to improve the depth and reliability of customer segmentation and represent a wider range of customer characteristics and </a:t>
            </a:r>
            <a:r>
              <a:rPr lang="en-IN" dirty="0" err="1"/>
              <a:t>behaviors</a:t>
            </a:r>
            <a:r>
              <a:rPr lang="en-IN" dirty="0"/>
              <a:t>. </a:t>
            </a:r>
          </a:p>
          <a:p>
            <a:pPr marL="342900" lvl="0" indent="-342900">
              <a:buFont typeface="+mj-lt"/>
              <a:buAutoNum type="arabicPeriod"/>
            </a:pPr>
            <a:r>
              <a:rPr lang="en-IN" b="1" dirty="0"/>
              <a:t>Additional </a:t>
            </a:r>
            <a:r>
              <a:rPr lang="en-IN" b="1" dirty="0" err="1"/>
              <a:t>behavioral</a:t>
            </a:r>
            <a:r>
              <a:rPr lang="en-IN" b="1" dirty="0"/>
              <a:t> and transactional features</a:t>
            </a:r>
            <a:r>
              <a:rPr lang="en-IN" dirty="0"/>
              <a:t> such as purchase history, purchasing frequency, product preferences, and customer engagement can be included to develop more comprehensive customer profiles. </a:t>
            </a:r>
          </a:p>
          <a:p>
            <a:pPr marL="342900" lvl="0" indent="-342900">
              <a:buFont typeface="+mj-lt"/>
              <a:buAutoNum type="arabicPeriod"/>
            </a:pPr>
            <a:r>
              <a:rPr lang="en-IN" b="1" dirty="0"/>
              <a:t>Customer segmentation can be combined with Customer Lifetime Value (CLV) analysis</a:t>
            </a:r>
            <a:r>
              <a:rPr lang="en-IN" dirty="0"/>
              <a:t> to identify customer groups based not only on current income and spending </a:t>
            </a:r>
            <a:r>
              <a:rPr lang="en-IN" dirty="0" err="1"/>
              <a:t>behavior</a:t>
            </a:r>
            <a:r>
              <a:rPr lang="en-IN" dirty="0"/>
              <a:t> but also on their potential long-term value to the organization. </a:t>
            </a:r>
          </a:p>
          <a:p>
            <a:pPr marL="342900" lvl="0" indent="-342900">
              <a:buFont typeface="+mj-lt"/>
              <a:buAutoNum type="arabicPeriod"/>
            </a:pPr>
            <a:r>
              <a:rPr lang="en-IN" b="1" dirty="0"/>
              <a:t>Recommendation systems and real-time customer data</a:t>
            </a:r>
            <a:r>
              <a:rPr lang="en-IN" dirty="0"/>
              <a:t> can be integrated to provide more personalized product suggestions, dynamic customer insights, and continuously updated segmentation results. </a:t>
            </a:r>
          </a:p>
          <a:p>
            <a:pPr marL="342900" lvl="0" indent="-342900">
              <a:buFont typeface="+mj-lt"/>
              <a:buAutoNum type="arabicPeriod"/>
            </a:pPr>
            <a:r>
              <a:rPr lang="en-IN" b="1" dirty="0"/>
              <a:t>Advanced clustering algorithms and automated analytics pipelines</a:t>
            </a:r>
            <a:r>
              <a:rPr lang="en-IN" dirty="0"/>
              <a:t> can be explored to compare different segmentation approaches, improve scalability, automate data processing, and support more efficient deployment of customer analytics solutions. </a:t>
            </a:r>
          </a:p>
          <a:p>
            <a:pPr>
              <a:buNone/>
            </a:pPr>
            <a:r>
              <a:rPr lang="en-IN" dirty="0"/>
              <a:t>These future enhancements can extend the project from a foundational customer segmentation model into a more comprehensive and scalable </a:t>
            </a:r>
            <a:r>
              <a:rPr lang="en-IN" b="1" dirty="0"/>
              <a:t>AI-driven customer analytics and decision-support system</a:t>
            </a:r>
            <a:r>
              <a:rPr lang="en-IN" dirty="0"/>
              <a:t>.</a:t>
            </a:r>
          </a:p>
          <a:p>
            <a:pPr algn="l">
              <a:spcAft>
                <a:spcPts val="1200"/>
              </a:spcAft>
              <a:defRPr sz="1800">
                <a:latin typeface="Aptos"/>
              </a:defRPr>
            </a:pPr>
            <a:endParaRPr dirty="0"/>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32</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Key Achievements</a:t>
            </a:r>
          </a:p>
        </p:txBody>
      </p:sp>
      <p:sp>
        <p:nvSpPr>
          <p:cNvPr id="4" name="TextBox 3"/>
          <p:cNvSpPr txBox="1"/>
          <p:nvPr/>
        </p:nvSpPr>
        <p:spPr>
          <a:xfrm>
            <a:off x="731520" y="1051560"/>
            <a:ext cx="10744200" cy="4524315"/>
          </a:xfrm>
          <a:prstGeom prst="rect">
            <a:avLst/>
          </a:prstGeom>
          <a:noFill/>
        </p:spPr>
        <p:txBody>
          <a:bodyPr wrap="square">
            <a:spAutoFit/>
          </a:bodyPr>
          <a:lstStyle/>
          <a:p>
            <a:pPr>
              <a:buNone/>
            </a:pPr>
            <a:r>
              <a:rPr lang="en-IN" dirty="0"/>
              <a:t>The project demonstrates a complete </a:t>
            </a:r>
            <a:r>
              <a:rPr lang="en-IN" b="1" dirty="0"/>
              <a:t>end-to-end Data Science and Machine Learning workflow</a:t>
            </a:r>
            <a:r>
              <a:rPr lang="en-IN" dirty="0"/>
              <a:t>, covering data loading, data quality analysis, Exploratory Data Analysis, feature selection, feature scaling, cluster evaluation, K-Means Clustering, cluster assignment, cluster profiling, business interpretation, results export, visualization, GitHub documentation, and </a:t>
            </a:r>
            <a:r>
              <a:rPr lang="en-IN" dirty="0" err="1"/>
              <a:t>Streamlit</a:t>
            </a:r>
            <a:r>
              <a:rPr lang="en-IN" dirty="0"/>
              <a:t> deployment.</a:t>
            </a:r>
          </a:p>
          <a:p>
            <a:pPr>
              <a:buNone/>
            </a:pPr>
            <a:r>
              <a:rPr lang="en-IN" dirty="0"/>
              <a:t>The workflow systematically transforms raw mall customer data into meaningful customer groups based on similarities in </a:t>
            </a:r>
            <a:r>
              <a:rPr lang="en-IN" b="1" dirty="0"/>
              <a:t>Annual Income</a:t>
            </a:r>
            <a:r>
              <a:rPr lang="en-IN" dirty="0"/>
              <a:t> and </a:t>
            </a:r>
            <a:r>
              <a:rPr lang="en-IN" b="1" dirty="0"/>
              <a:t>Spending Score</a:t>
            </a:r>
            <a:r>
              <a:rPr lang="en-IN" dirty="0"/>
              <a:t>. Technical clustering techniques such as the </a:t>
            </a:r>
            <a:r>
              <a:rPr lang="en-IN" b="1" dirty="0"/>
              <a:t>Elbow Method</a:t>
            </a:r>
            <a:r>
              <a:rPr lang="en-IN" dirty="0"/>
              <a:t> and </a:t>
            </a:r>
            <a:r>
              <a:rPr lang="en-IN" b="1" dirty="0"/>
              <a:t>Silhouette Score</a:t>
            </a:r>
            <a:r>
              <a:rPr lang="en-IN" dirty="0"/>
              <a:t> are used to evaluate the clustering solution, while cluster profiling helps identify the characteristics of each customer group.</a:t>
            </a:r>
          </a:p>
          <a:p>
            <a:pPr>
              <a:buNone/>
            </a:pPr>
            <a:r>
              <a:rPr lang="en-IN" dirty="0"/>
              <a:t>A key achievement of the project is the transformation of technical Machine Learning cluster results into meaningful </a:t>
            </a:r>
            <a:r>
              <a:rPr lang="en-IN" b="1" dirty="0"/>
              <a:t>business-oriented customer segments</a:t>
            </a:r>
            <a:r>
              <a:rPr lang="en-IN" dirty="0"/>
              <a:t>. Instead of presenting customers only through numerical cluster labels, the project interprets the identified groups based on their financial capacity and spending </a:t>
            </a:r>
            <a:r>
              <a:rPr lang="en-IN" dirty="0" err="1"/>
              <a:t>behavior</a:t>
            </a:r>
            <a:r>
              <a:rPr lang="en-IN" dirty="0"/>
              <a:t>.</a:t>
            </a:r>
          </a:p>
          <a:p>
            <a:pPr>
              <a:buNone/>
            </a:pPr>
            <a:r>
              <a:rPr lang="en-IN" dirty="0"/>
              <a:t>The resulting insights are translated into practical business recommendations supporting targeted marketing, personalized promotions, customer engagement, retention, cross-selling, upselling, and premium customer strategies.</a:t>
            </a:r>
          </a:p>
          <a:p>
            <a:pPr>
              <a:buNone/>
            </a:pPr>
            <a:r>
              <a:rPr lang="en-IN" dirty="0"/>
              <a:t>Overall, the project demonstrates the ability to connect </a:t>
            </a:r>
            <a:r>
              <a:rPr lang="en-IN" b="1" dirty="0"/>
              <a:t>Data Science, Machine Learning, Business Analytics, visualization, documentation, and application deployment</a:t>
            </a:r>
            <a:r>
              <a:rPr lang="en-IN" dirty="0"/>
              <a:t> into a complete and practical analytical solution.</a:t>
            </a:r>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33</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Key Learning Outcomes</a:t>
            </a:r>
          </a:p>
        </p:txBody>
      </p:sp>
      <p:sp>
        <p:nvSpPr>
          <p:cNvPr id="4" name="TextBox 3"/>
          <p:cNvSpPr txBox="1"/>
          <p:nvPr/>
        </p:nvSpPr>
        <p:spPr>
          <a:xfrm>
            <a:off x="731520" y="1051560"/>
            <a:ext cx="10744200" cy="3970318"/>
          </a:xfrm>
          <a:prstGeom prst="rect">
            <a:avLst/>
          </a:prstGeom>
          <a:noFill/>
        </p:spPr>
        <p:txBody>
          <a:bodyPr wrap="square">
            <a:spAutoFit/>
          </a:bodyPr>
          <a:lstStyle/>
          <a:p>
            <a:pPr>
              <a:buNone/>
            </a:pPr>
            <a:r>
              <a:rPr lang="en-IN" dirty="0"/>
              <a:t>The project provided valuable practical experience across multiple stages of the </a:t>
            </a:r>
            <a:r>
              <a:rPr lang="en-IN" b="1" dirty="0"/>
              <a:t>Data Science and Machine Learning workflow</a:t>
            </a:r>
            <a:r>
              <a:rPr lang="en-IN" dirty="0"/>
              <a:t>. It strengthened skills in </a:t>
            </a:r>
            <a:r>
              <a:rPr lang="en-IN" b="1" dirty="0"/>
              <a:t>Python programming, data analysis, Exploratory Data Analysis, data visualization, feature selection, feature scaling, Unsupervised Machine Learning, and K-Means Clustering</a:t>
            </a:r>
            <a:r>
              <a:rPr lang="en-IN" dirty="0"/>
              <a:t>.</a:t>
            </a:r>
          </a:p>
          <a:p>
            <a:pPr>
              <a:buNone/>
            </a:pPr>
            <a:r>
              <a:rPr lang="en-IN" dirty="0"/>
              <a:t>The project also provided hands-on experience in important clustering evaluation techniques, including the </a:t>
            </a:r>
            <a:r>
              <a:rPr lang="en-IN" b="1" dirty="0"/>
              <a:t>Elbow Method</a:t>
            </a:r>
            <a:r>
              <a:rPr lang="en-IN" dirty="0"/>
              <a:t> and </a:t>
            </a:r>
            <a:r>
              <a:rPr lang="en-IN" b="1" dirty="0"/>
              <a:t>Silhouette Score</a:t>
            </a:r>
            <a:r>
              <a:rPr lang="en-IN" dirty="0"/>
              <a:t>, along with </a:t>
            </a:r>
            <a:r>
              <a:rPr lang="en-IN" b="1" dirty="0"/>
              <a:t>cluster profiling</a:t>
            </a:r>
            <a:r>
              <a:rPr lang="en-IN" dirty="0"/>
              <a:t> and </a:t>
            </a:r>
            <a:r>
              <a:rPr lang="en-IN" b="1" dirty="0"/>
              <a:t>customer segmentation</a:t>
            </a:r>
            <a:r>
              <a:rPr lang="en-IN" dirty="0"/>
              <a:t>. These stages helped develop a deeper understanding of how raw customer data can be </a:t>
            </a:r>
            <a:r>
              <a:rPr lang="en-IN" dirty="0" err="1"/>
              <a:t>analyzed</a:t>
            </a:r>
            <a:r>
              <a:rPr lang="en-IN" dirty="0"/>
              <a:t> and transformed into meaningful groups based on similarities in customer characteristics and </a:t>
            </a:r>
            <a:r>
              <a:rPr lang="en-IN" dirty="0" err="1"/>
              <a:t>behavior</a:t>
            </a:r>
            <a:r>
              <a:rPr lang="en-IN" dirty="0"/>
              <a:t>.</a:t>
            </a:r>
          </a:p>
          <a:p>
            <a:pPr>
              <a:buNone/>
            </a:pPr>
            <a:r>
              <a:rPr lang="en-IN" dirty="0"/>
              <a:t>In addition, the project strengthened practical knowledge of </a:t>
            </a:r>
            <a:r>
              <a:rPr lang="en-IN" b="1" dirty="0"/>
              <a:t>Business Analytics, </a:t>
            </a:r>
            <a:r>
              <a:rPr lang="en-IN" b="1" dirty="0" err="1"/>
              <a:t>Streamlit</a:t>
            </a:r>
            <a:r>
              <a:rPr lang="en-IN" b="1" dirty="0"/>
              <a:t> application deployment, visualization, results interpretation, and GitHub project documentation</a:t>
            </a:r>
            <a:r>
              <a:rPr lang="en-IN" dirty="0"/>
              <a:t>. The complete workflow provided experience in developing, presenting, and deploying a Machine Learning-based analytical solution.</a:t>
            </a:r>
          </a:p>
          <a:p>
            <a:pPr>
              <a:buNone/>
            </a:pPr>
            <a:r>
              <a:rPr lang="en-IN" dirty="0"/>
              <a:t>Most importantly, the project strengthened the ability to connect </a:t>
            </a:r>
            <a:r>
              <a:rPr lang="en-IN" b="1" dirty="0"/>
              <a:t>technical Machine Learning analysis with meaningful business interpretation and decision-making</a:t>
            </a:r>
            <a:r>
              <a:rPr lang="en-IN" dirty="0"/>
              <a:t>. It demonstrated how analytical results can be translated into actionable customer insights, targeted marketing strategies, and practical business recommendations.</a:t>
            </a:r>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34</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Conclusion</a:t>
            </a:r>
          </a:p>
        </p:txBody>
      </p:sp>
      <p:sp>
        <p:nvSpPr>
          <p:cNvPr id="4" name="TextBox 3"/>
          <p:cNvSpPr txBox="1"/>
          <p:nvPr/>
        </p:nvSpPr>
        <p:spPr>
          <a:xfrm>
            <a:off x="731520" y="1051560"/>
            <a:ext cx="10744200" cy="4247317"/>
          </a:xfrm>
          <a:prstGeom prst="rect">
            <a:avLst/>
          </a:prstGeom>
          <a:noFill/>
        </p:spPr>
        <p:txBody>
          <a:bodyPr wrap="square">
            <a:spAutoFit/>
          </a:bodyPr>
          <a:lstStyle/>
          <a:p>
            <a:pPr>
              <a:buNone/>
            </a:pPr>
            <a:r>
              <a:rPr lang="en-IN" b="1" dirty="0"/>
              <a:t>Customer Segmentation Using K-Means Clustering</a:t>
            </a:r>
            <a:r>
              <a:rPr lang="en-IN" dirty="0"/>
              <a:t> demonstrates how </a:t>
            </a:r>
            <a:r>
              <a:rPr lang="en-IN" b="1" dirty="0"/>
              <a:t>Unsupervised Machine Learning</a:t>
            </a:r>
            <a:r>
              <a:rPr lang="en-IN" dirty="0"/>
              <a:t> can be used to identify meaningful groups of customers based on similarities in their </a:t>
            </a:r>
            <a:r>
              <a:rPr lang="en-IN" b="1" dirty="0"/>
              <a:t>Annual Income and Spending Score</a:t>
            </a:r>
            <a:r>
              <a:rPr lang="en-IN" dirty="0"/>
              <a:t>.</a:t>
            </a:r>
          </a:p>
          <a:p>
            <a:pPr>
              <a:buNone/>
            </a:pPr>
            <a:r>
              <a:rPr lang="en-IN" dirty="0"/>
              <a:t>The project follows a structured end-to-end workflow, progressing from raw customer data through </a:t>
            </a:r>
            <a:r>
              <a:rPr lang="en-IN" b="1" dirty="0"/>
              <a:t>data quality analysis, Exploratory Data Analysis, feature selection, feature scaling, cluster evaluation, K-Means Clustering, cluster assignment, cluster profiling, and business interpretation</a:t>
            </a:r>
            <a:r>
              <a:rPr lang="en-IN" dirty="0"/>
              <a:t>. The clustering results are further visualized, exported, documented through GitHub, and deployed through an interactive </a:t>
            </a:r>
            <a:r>
              <a:rPr lang="en-IN" dirty="0" err="1"/>
              <a:t>Streamlit</a:t>
            </a:r>
            <a:r>
              <a:rPr lang="en-IN" dirty="0"/>
              <a:t> application.</a:t>
            </a:r>
          </a:p>
          <a:p>
            <a:pPr>
              <a:buNone/>
            </a:pPr>
            <a:r>
              <a:rPr lang="en-IN" dirty="0"/>
              <a:t>A key outcome of the project is the transformation of technical numerical cluster assignments into meaningful </a:t>
            </a:r>
            <a:r>
              <a:rPr lang="en-IN" b="1" dirty="0"/>
              <a:t>business-oriented customer segments</a:t>
            </a:r>
            <a:r>
              <a:rPr lang="en-IN" dirty="0"/>
              <a:t>. This enables customer groups to be understood according to their financial capacity and spending </a:t>
            </a:r>
            <a:r>
              <a:rPr lang="en-IN" dirty="0" err="1"/>
              <a:t>behavior</a:t>
            </a:r>
            <a:r>
              <a:rPr lang="en-IN" dirty="0"/>
              <a:t> rather than only through numerical labels.</a:t>
            </a:r>
          </a:p>
          <a:p>
            <a:pPr>
              <a:buNone/>
            </a:pPr>
            <a:r>
              <a:rPr lang="en-IN" dirty="0"/>
              <a:t>The resulting customer segments can support </a:t>
            </a:r>
            <a:r>
              <a:rPr lang="en-IN" b="1" dirty="0"/>
              <a:t>targeted marketing campaigns, personalized offers, improved customer engagement, customer retention, cross-selling, upselling, and premium customer strategies</a:t>
            </a:r>
            <a:r>
              <a:rPr lang="en-IN" dirty="0"/>
              <a:t>.</a:t>
            </a:r>
          </a:p>
          <a:p>
            <a:pPr>
              <a:buNone/>
            </a:pPr>
            <a:r>
              <a:rPr lang="en-IN" dirty="0"/>
              <a:t>Overall, the project demonstrates how Data Science and Machine Learning can transform raw customer information into meaningful insights and practical business recommendations, supporting more personalized, efficient, and data-driven decision-making.</a:t>
            </a:r>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35</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Complete Project Summary</a:t>
            </a:r>
          </a:p>
        </p:txBody>
      </p:sp>
      <p:sp>
        <p:nvSpPr>
          <p:cNvPr id="4" name="TextBox 3"/>
          <p:cNvSpPr txBox="1"/>
          <p:nvPr/>
        </p:nvSpPr>
        <p:spPr>
          <a:xfrm>
            <a:off x="731520" y="1051560"/>
            <a:ext cx="10744200" cy="5303520"/>
          </a:xfrm>
          <a:prstGeom prst="rect">
            <a:avLst/>
          </a:prstGeom>
          <a:noFill/>
        </p:spPr>
        <p:txBody>
          <a:bodyPr wrap="square">
            <a:spAutoFit/>
          </a:bodyPr>
          <a:lstStyle/>
          <a:p>
            <a:pPr algn="l">
              <a:spcAft>
                <a:spcPts val="1200"/>
              </a:spcAft>
              <a:defRPr sz="1800">
                <a:latin typeface="Aptos"/>
              </a:defRPr>
            </a:pPr>
            <a:r>
              <a:t>Mall Customer Dataset</a:t>
            </a:r>
            <a:br/>
            <a:r>
              <a:t>↓</a:t>
            </a:r>
            <a:br/>
            <a:r>
              <a:t>Data Quality Analysis</a:t>
            </a:r>
            <a:br/>
            <a:r>
              <a:t>↓</a:t>
            </a:r>
            <a:br/>
            <a:r>
              <a:t>Exploratory Data Analysis</a:t>
            </a:r>
            <a:br/>
            <a:r>
              <a:t>↓</a:t>
            </a:r>
            <a:br/>
            <a:r>
              <a:t>Feature Selection</a:t>
            </a:r>
            <a:br/>
            <a:r>
              <a:t>↓</a:t>
            </a:r>
            <a:br/>
            <a:r>
              <a:t>Feature Scaling</a:t>
            </a:r>
            <a:br/>
            <a:r>
              <a:t>↓</a:t>
            </a:r>
            <a:br/>
            <a:r>
              <a:t>Elbow Method and Silhouette Score</a:t>
            </a:r>
            <a:br/>
            <a:r>
              <a:t>↓</a:t>
            </a:r>
            <a:br/>
            <a:r>
              <a:t>K-Means Clustering</a:t>
            </a:r>
            <a:br/>
            <a:r>
              <a:t>↓</a:t>
            </a:r>
            <a:br/>
            <a:r>
              <a:t>Customer Cluster Assignment</a:t>
            </a:r>
            <a:br/>
            <a:r>
              <a:t>↓</a:t>
            </a:r>
            <a:br/>
            <a:r>
              <a:t>Cluster Profiling</a:t>
            </a:r>
            <a:br/>
            <a:r>
              <a:t>↓</a:t>
            </a:r>
            <a:br/>
            <a:r>
              <a:t>Business-Oriented Customer Segmentation</a:t>
            </a:r>
            <a:br/>
            <a:r>
              <a:t>↓</a:t>
            </a:r>
            <a:br/>
            <a:r>
              <a:t>Business Insights and Recommendations</a:t>
            </a:r>
            <a:br/>
            <a:r>
              <a:t>↓</a:t>
            </a:r>
            <a:br/>
            <a:r>
              <a:t>Results Export</a:t>
            </a:r>
            <a:br/>
            <a:r>
              <a:t>↓</a:t>
            </a:r>
            <a:br/>
            <a:r>
              <a:t>Streamlit Deployment</a:t>
            </a:r>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36</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548640"/>
          </a:xfrm>
          <a:prstGeom prst="rect">
            <a:avLst/>
          </a:prstGeom>
          <a:noFill/>
        </p:spPr>
        <p:txBody>
          <a:bodyPr wrap="none">
            <a:spAutoFit/>
          </a:bodyPr>
          <a:lstStyle/>
          <a:p>
            <a:pPr>
              <a:defRPr sz="2800" b="1">
                <a:solidFill>
                  <a:srgbClr val="FFFFFF"/>
                </a:solidFill>
              </a:defRPr>
            </a:pPr>
            <a:r>
              <a:t>THANK YOU</a:t>
            </a:r>
          </a:p>
        </p:txBody>
      </p:sp>
      <p:sp>
        <p:nvSpPr>
          <p:cNvPr id="4" name="TextBox 3"/>
          <p:cNvSpPr txBox="1"/>
          <p:nvPr/>
        </p:nvSpPr>
        <p:spPr>
          <a:xfrm>
            <a:off x="731520" y="1051560"/>
            <a:ext cx="10744200" cy="1477328"/>
          </a:xfrm>
          <a:prstGeom prst="rect">
            <a:avLst/>
          </a:prstGeom>
          <a:noFill/>
        </p:spPr>
        <p:txBody>
          <a:bodyPr wrap="square">
            <a:spAutoFit/>
          </a:bodyPr>
          <a:lstStyle/>
          <a:p>
            <a:pPr>
              <a:buNone/>
            </a:pPr>
            <a:r>
              <a:rPr lang="en-IN" b="1" dirty="0"/>
              <a:t>Customer Segmentation Using K-Means Clustering</a:t>
            </a:r>
          </a:p>
          <a:p>
            <a:pPr>
              <a:buNone/>
            </a:pPr>
            <a:r>
              <a:rPr lang="en-IN" b="1" dirty="0" err="1"/>
              <a:t>Vadlamuri</a:t>
            </a:r>
            <a:r>
              <a:rPr lang="en-IN" b="1" dirty="0"/>
              <a:t> Sohan Aravind</a:t>
            </a:r>
          </a:p>
          <a:p>
            <a:pPr>
              <a:buNone/>
            </a:pPr>
            <a:r>
              <a:rPr lang="en-IN" b="1" dirty="0"/>
              <a:t>Data Science | Machine Learning | Business Analytics</a:t>
            </a:r>
            <a:endParaRPr lang="en-IN" dirty="0"/>
          </a:p>
          <a:p>
            <a:pPr>
              <a:buNone/>
            </a:pPr>
            <a:r>
              <a:rPr lang="en-IN" dirty="0"/>
              <a:t>This is a clean and professional format for the </a:t>
            </a:r>
            <a:r>
              <a:rPr lang="en-IN" b="1" dirty="0"/>
              <a:t>final title/conclusion slide</a:t>
            </a:r>
            <a:r>
              <a:rPr lang="en-IN" dirty="0"/>
              <a:t> of your presentation.</a:t>
            </a:r>
          </a:p>
          <a:p>
            <a:pPr algn="l">
              <a:spcAft>
                <a:spcPts val="1200"/>
              </a:spcAft>
              <a:defRPr sz="1800">
                <a:latin typeface="Aptos"/>
              </a:defRPr>
            </a:pPr>
            <a:endParaRPr dirty="0"/>
          </a:p>
        </p:txBody>
      </p:sp>
      <p:sp>
        <p:nvSpPr>
          <p:cNvPr id="5" name="TextBox 4"/>
          <p:cNvSpPr txBox="1"/>
          <p:nvPr/>
        </p:nvSpPr>
        <p:spPr>
          <a:xfrm>
            <a:off x="731520" y="6473952"/>
            <a:ext cx="10698480" cy="228600"/>
          </a:xfrm>
          <a:prstGeom prst="rect">
            <a:avLst/>
          </a:prstGeom>
          <a:noFill/>
        </p:spPr>
        <p:txBody>
          <a:bodyPr wrap="none">
            <a:spAutoFit/>
          </a:bodyPr>
          <a:lstStyle/>
          <a:p>
            <a:pPr>
              <a:defRPr sz="900">
                <a:solidFill>
                  <a:srgbClr val="646464"/>
                </a:solidFill>
              </a:defRPr>
            </a:pPr>
            <a:r>
              <a:t>Customer Segmentation Using K-Means Clustering | Slide 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118</TotalTime>
  <Words>7738</Words>
  <Application>Microsoft Office PowerPoint</Application>
  <PresentationFormat>Widescreen</PresentationFormat>
  <Paragraphs>244</Paragraphs>
  <Slides>43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Elbow Method for Optimal Number of Clusters</vt:lpstr>
      <vt:lpstr>PowerPoint Presentation</vt:lpstr>
      <vt:lpstr>Silhouette Score for Different Numbers of Clusters</vt:lpstr>
      <vt:lpstr> </vt:lpstr>
      <vt:lpstr>Customer Segmentation Using K-Means Clustering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PrasadSakku Aravind</cp:lastModifiedBy>
  <cp:revision>3</cp:revision>
  <dcterms:created xsi:type="dcterms:W3CDTF">2013-01-27T09:14:16Z</dcterms:created>
  <dcterms:modified xsi:type="dcterms:W3CDTF">2026-09-09T09:57:16Z</dcterms:modified>
  <cp:category/>
</cp:coreProperties>
</file>